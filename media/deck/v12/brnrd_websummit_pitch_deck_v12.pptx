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WEB SUMMIT LISBON 2026 · ALPHA</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01</a:t>
            </a:r>
          </a:p>
        </p:txBody>
      </p:sp>
      <p:sp>
        <p:nvSpPr>
          <p:cNvPr id="9" name="TextBox 8"/>
          <p:cNvSpPr txBox="1"/>
          <p:nvPr/>
        </p:nvSpPr>
        <p:spPr>
          <a:xfrm>
            <a:off x="713232" y="1344168"/>
            <a:ext cx="9784080" cy="1051560"/>
          </a:xfrm>
          <a:prstGeom prst="rect">
            <a:avLst/>
          </a:prstGeom>
          <a:noFill/>
        </p:spPr>
        <p:txBody>
          <a:bodyPr wrap="square" lIns="0" rIns="0" tIns="0" bIns="0" anchor="t">
            <a:spAutoFit/>
          </a:bodyPr>
          <a:lstStyle/>
          <a:p>
            <a:pPr algn="l"/>
            <a:r>
              <a:rPr sz="3300" b="1" i="0">
                <a:solidFill>
                  <a:srgbClr val="F6F8FC"/>
                </a:solidFill>
                <a:latin typeface="Aptos"/>
              </a:rPr>
              <a:t>brnrd</a:t>
            </a:r>
            <a:r>
              <a:rPr sz="3300" b="0" i="0">
                <a:solidFill>
                  <a:srgbClr val="C6E5FF"/>
                </a:solidFill>
                <a:latin typeface="Aptos"/>
              </a:rPr>
              <a:t> — </a:t>
            </a:r>
            <a:r>
              <a:rPr sz="3300" b="0" i="1">
                <a:solidFill>
                  <a:srgbClr val="C6E5FF"/>
                </a:solidFill>
                <a:latin typeface="Aptos"/>
              </a:rPr>
              <a:t>an AI pal that lives on your machine</a:t>
            </a:r>
          </a:p>
        </p:txBody>
      </p:sp>
      <p:sp>
        <p:nvSpPr>
          <p:cNvPr id="10" name="Rectangle 9"/>
          <p:cNvSpPr/>
          <p:nvPr/>
        </p:nvSpPr>
        <p:spPr>
          <a:xfrm>
            <a:off x="749808" y="2615184"/>
            <a:ext cx="219456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944368"/>
            <a:ext cx="6949440" cy="822960"/>
          </a:xfrm>
          <a:prstGeom prst="rect">
            <a:avLst/>
          </a:prstGeom>
          <a:noFill/>
        </p:spPr>
        <p:txBody>
          <a:bodyPr wrap="square" lIns="0" rIns="0" tIns="0" bIns="0" anchor="t">
            <a:spAutoFit/>
          </a:bodyPr>
          <a:lstStyle/>
          <a:p>
            <a:pPr algn="l"/>
            <a:r>
              <a:rPr sz="2000" b="0" i="0">
                <a:solidFill>
                  <a:srgbClr val="BEC6D2"/>
                </a:solidFill>
                <a:latin typeface="Aptos"/>
              </a:rPr>
              <a:t>Built by two people, and by the pal itself. Open source. Runs on the subscription you already pay for.</a:t>
            </a:r>
          </a:p>
        </p:txBody>
      </p:sp>
      <p:sp>
        <p:nvSpPr>
          <p:cNvPr id="12" name="TextBox 11"/>
          <p:cNvSpPr txBox="1"/>
          <p:nvPr/>
        </p:nvSpPr>
        <p:spPr>
          <a:xfrm>
            <a:off x="749808" y="4096512"/>
            <a:ext cx="3108960" cy="292608"/>
          </a:xfrm>
          <a:prstGeom prst="rect">
            <a:avLst/>
          </a:prstGeom>
          <a:noFill/>
        </p:spPr>
        <p:txBody>
          <a:bodyPr wrap="square" lIns="0" rIns="0" tIns="0" bIns="0" anchor="t">
            <a:spAutoFit/>
          </a:bodyPr>
          <a:lstStyle/>
          <a:p>
            <a:pPr algn="l"/>
            <a:r>
              <a:rPr sz="1600" b="0" i="0">
                <a:solidFill>
                  <a:srgbClr val="C6E5FF"/>
                </a:solidFill>
                <a:latin typeface="Aptos"/>
              </a:rPr>
              <a:t>Web Summit Lisbon 2026</a:t>
            </a:r>
          </a:p>
        </p:txBody>
      </p:sp>
      <p:sp>
        <p:nvSpPr>
          <p:cNvPr id="13" name="TextBox 12"/>
          <p:cNvSpPr txBox="1"/>
          <p:nvPr/>
        </p:nvSpPr>
        <p:spPr>
          <a:xfrm>
            <a:off x="749808" y="4535424"/>
            <a:ext cx="1097280" cy="274320"/>
          </a:xfrm>
          <a:prstGeom prst="rect">
            <a:avLst/>
          </a:prstGeom>
          <a:noFill/>
        </p:spPr>
        <p:txBody>
          <a:bodyPr wrap="square" lIns="0" rIns="0" tIns="0" bIns="0" anchor="t">
            <a:spAutoFit/>
          </a:bodyPr>
          <a:lstStyle/>
          <a:p>
            <a:pPr algn="l"/>
            <a:r>
              <a:rPr sz="1500" b="1" i="0">
                <a:solidFill>
                  <a:srgbClr val="FFB739"/>
                </a:solidFill>
                <a:latin typeface="Aptos"/>
              </a:rPr>
              <a:t>Alpha</a:t>
            </a:r>
          </a:p>
        </p:txBody>
      </p:sp>
      <p:sp>
        <p:nvSpPr>
          <p:cNvPr id="14" name="TextBox 13"/>
          <p:cNvSpPr txBox="1"/>
          <p:nvPr/>
        </p:nvSpPr>
        <p:spPr>
          <a:xfrm>
            <a:off x="2011680" y="4535424"/>
            <a:ext cx="2194560" cy="274320"/>
          </a:xfrm>
          <a:prstGeom prst="rect">
            <a:avLst/>
          </a:prstGeom>
          <a:noFill/>
        </p:spPr>
        <p:txBody>
          <a:bodyPr wrap="square" lIns="0" rIns="0" tIns="0" bIns="0" anchor="t">
            <a:spAutoFit/>
          </a:bodyPr>
          <a:lstStyle/>
          <a:p>
            <a:pPr algn="l"/>
            <a:r>
              <a:rPr sz="1500" b="0" i="0">
                <a:solidFill>
                  <a:srgbClr val="F6F8FC"/>
                </a:solidFill>
                <a:latin typeface="Aptos"/>
              </a:rPr>
              <a:t>HugiMuni SAS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PROBLEM</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02</a:t>
            </a:r>
          </a:p>
        </p:txBody>
      </p:sp>
      <p:sp>
        <p:nvSpPr>
          <p:cNvPr id="9" name="TextBox 8"/>
          <p:cNvSpPr txBox="1"/>
          <p:nvPr/>
        </p:nvSpPr>
        <p:spPr>
          <a:xfrm>
            <a:off x="621792" y="987552"/>
            <a:ext cx="6583680" cy="566928"/>
          </a:xfrm>
          <a:prstGeom prst="rect">
            <a:avLst/>
          </a:prstGeom>
          <a:noFill/>
        </p:spPr>
        <p:txBody>
          <a:bodyPr wrap="square" lIns="0" rIns="0" tIns="0" bIns="0" anchor="t">
            <a:spAutoFit/>
          </a:bodyPr>
          <a:lstStyle/>
          <a:p>
            <a:pPr algn="l"/>
            <a:r>
              <a:rPr sz="3200" b="0" i="0">
                <a:solidFill>
                  <a:srgbClr val="F6F8FC"/>
                </a:solidFill>
                <a:latin typeface="Aptos"/>
              </a:rPr>
              <a:t>You babysit a terminal.</a:t>
            </a:r>
          </a:p>
        </p:txBody>
      </p:sp>
      <p:sp>
        <p:nvSpPr>
          <p:cNvPr id="10" name="TextBox 9"/>
          <p:cNvSpPr txBox="1"/>
          <p:nvPr/>
        </p:nvSpPr>
        <p:spPr>
          <a:xfrm>
            <a:off x="658368" y="1755648"/>
            <a:ext cx="6309360" cy="438912"/>
          </a:xfrm>
          <a:prstGeom prst="rect">
            <a:avLst/>
          </a:prstGeom>
          <a:noFill/>
        </p:spPr>
        <p:txBody>
          <a:bodyPr wrap="square" lIns="0" rIns="0" tIns="0" bIns="0" anchor="t">
            <a:spAutoFit/>
          </a:bodyPr>
          <a:lstStyle/>
          <a:p>
            <a:pPr algn="l"/>
            <a:r>
              <a:rPr sz="1800" b="0" i="0">
                <a:solidFill>
                  <a:srgbClr val="BEC6D2"/>
                </a:solidFill>
                <a:latin typeface="Aptos"/>
              </a:rPr>
              <a:t>Agents got powerful. The way we work with them didn't.</a:t>
            </a:r>
          </a:p>
        </p:txBody>
      </p:sp>
      <p:sp>
        <p:nvSpPr>
          <p:cNvPr id="11" name="Rectangle 10"/>
          <p:cNvSpPr/>
          <p:nvPr/>
        </p:nvSpPr>
        <p:spPr>
          <a:xfrm>
            <a:off x="685800" y="2624328"/>
            <a:ext cx="41148" cy="38404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615184"/>
            <a:ext cx="6172200" cy="502920"/>
          </a:xfrm>
          <a:prstGeom prst="rect">
            <a:avLst/>
          </a:prstGeom>
          <a:noFill/>
        </p:spPr>
        <p:txBody>
          <a:bodyPr wrap="square" lIns="0" rIns="0" tIns="0" bIns="0" anchor="t">
            <a:spAutoFit/>
          </a:bodyPr>
          <a:lstStyle/>
          <a:p>
            <a:pPr algn="l"/>
            <a:r>
              <a:rPr sz="1520" b="0" i="0">
                <a:solidFill>
                  <a:srgbClr val="F6F8FC"/>
                </a:solidFill>
                <a:latin typeface="Aptos"/>
              </a:rPr>
              <a:t>Start — open a terminal, start an agent.</a:t>
            </a:r>
          </a:p>
        </p:txBody>
      </p:sp>
      <p:sp>
        <p:nvSpPr>
          <p:cNvPr id="13" name="Rectangle 12"/>
          <p:cNvSpPr/>
          <p:nvPr/>
        </p:nvSpPr>
        <p:spPr>
          <a:xfrm>
            <a:off x="685800" y="3291840"/>
            <a:ext cx="41148" cy="38404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282696"/>
            <a:ext cx="6172200" cy="502920"/>
          </a:xfrm>
          <a:prstGeom prst="rect">
            <a:avLst/>
          </a:prstGeom>
          <a:noFill/>
        </p:spPr>
        <p:txBody>
          <a:bodyPr wrap="square" lIns="0" rIns="0" tIns="0" bIns="0" anchor="t">
            <a:spAutoFit/>
          </a:bodyPr>
          <a:lstStyle/>
          <a:p>
            <a:pPr algn="l"/>
            <a:r>
              <a:rPr sz="1520" b="0" i="0">
                <a:solidFill>
                  <a:srgbClr val="F6F8FC"/>
                </a:solidFill>
                <a:latin typeface="Aptos"/>
              </a:rPr>
              <a:t>Babysit — watch it work, answer its blockers.</a:t>
            </a:r>
          </a:p>
        </p:txBody>
      </p:sp>
      <p:sp>
        <p:nvSpPr>
          <p:cNvPr id="15" name="Rectangle 14"/>
          <p:cNvSpPr/>
          <p:nvPr/>
        </p:nvSpPr>
        <p:spPr>
          <a:xfrm>
            <a:off x="685800" y="3959352"/>
            <a:ext cx="41148" cy="38404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950208"/>
            <a:ext cx="6172200" cy="502920"/>
          </a:xfrm>
          <a:prstGeom prst="rect">
            <a:avLst/>
          </a:prstGeom>
          <a:noFill/>
        </p:spPr>
        <p:txBody>
          <a:bodyPr wrap="square" lIns="0" rIns="0" tIns="0" bIns="0" anchor="t">
            <a:spAutoFit/>
          </a:bodyPr>
          <a:lstStyle/>
          <a:p>
            <a:pPr algn="l"/>
            <a:r>
              <a:rPr sz="1520" b="0" i="0">
                <a:solidFill>
                  <a:srgbClr val="F6F8FC"/>
                </a:solidFill>
                <a:latin typeface="Aptos"/>
              </a:rPr>
              <a:t>Lose the thread — close it and it forgets; keep it open and it buries you.</a:t>
            </a:r>
          </a:p>
        </p:txBody>
      </p:sp>
      <p:sp>
        <p:nvSpPr>
          <p:cNvPr id="17" name="TextBox 16"/>
          <p:cNvSpPr txBox="1"/>
          <p:nvPr/>
        </p:nvSpPr>
        <p:spPr>
          <a:xfrm>
            <a:off x="685800" y="5084064"/>
            <a:ext cx="6583680" cy="530352"/>
          </a:xfrm>
          <a:prstGeom prst="rect">
            <a:avLst/>
          </a:prstGeom>
          <a:noFill/>
        </p:spPr>
        <p:txBody>
          <a:bodyPr wrap="square" lIns="0" rIns="0" tIns="0" bIns="0" anchor="t">
            <a:spAutoFit/>
          </a:bodyPr>
          <a:lstStyle/>
          <a:p>
            <a:pPr algn="l"/>
            <a:r>
              <a:rPr sz="1850" b="0" i="1">
                <a:solidFill>
                  <a:srgbClr val="FFB739"/>
                </a:solidFill>
                <a:latin typeface="Aptos"/>
              </a:rPr>
              <a:t>The bottleneck moved from intelligence to supervision.</a:t>
            </a:r>
          </a:p>
        </p:txBody>
      </p:sp>
      <p:pic>
        <p:nvPicPr>
          <p:cNvPr id="18" name="Picture 17" descr="slide2-lose.png"/>
          <p:cNvPicPr>
            <a:picLocks noChangeAspect="1"/>
          </p:cNvPicPr>
          <p:nvPr/>
        </p:nvPicPr>
        <p:blipFill>
          <a:blip r:embed="rId3"/>
          <a:stretch>
            <a:fillRect/>
          </a:stretch>
        </p:blipFill>
        <p:spPr>
          <a:xfrm>
            <a:off x="7818120" y="658368"/>
            <a:ext cx="3794760" cy="49377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THE RESIDENT</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03</a:t>
            </a:r>
          </a:p>
        </p:txBody>
      </p:sp>
      <p:sp>
        <p:nvSpPr>
          <p:cNvPr id="9" name="TextBox 8"/>
          <p:cNvSpPr txBox="1"/>
          <p:nvPr/>
        </p:nvSpPr>
        <p:spPr>
          <a:xfrm>
            <a:off x="621792" y="987552"/>
            <a:ext cx="5212080" cy="658368"/>
          </a:xfrm>
          <a:prstGeom prst="rect">
            <a:avLst/>
          </a:prstGeom>
          <a:noFill/>
        </p:spPr>
        <p:txBody>
          <a:bodyPr wrap="square" lIns="0" rIns="0" tIns="0" bIns="0" anchor="t">
            <a:spAutoFit/>
          </a:bodyPr>
          <a:lstStyle/>
          <a:p>
            <a:pPr algn="l"/>
            <a:r>
              <a:rPr sz="3400" b="0" i="0">
                <a:solidFill>
                  <a:srgbClr val="F6F8FC"/>
                </a:solidFill>
                <a:latin typeface="Aptos"/>
              </a:rPr>
              <a:t>A resident, not a session.</a:t>
            </a:r>
          </a:p>
        </p:txBody>
      </p:sp>
      <p:sp>
        <p:nvSpPr>
          <p:cNvPr id="10" name="TextBox 9"/>
          <p:cNvSpPr txBox="1"/>
          <p:nvPr/>
        </p:nvSpPr>
        <p:spPr>
          <a:xfrm>
            <a:off x="658368" y="1947672"/>
            <a:ext cx="4983480" cy="3154680"/>
          </a:xfrm>
          <a:prstGeom prst="rect">
            <a:avLst/>
          </a:prstGeom>
          <a:noFill/>
        </p:spPr>
        <p:txBody>
          <a:bodyPr wrap="square" lIns="0" rIns="0" tIns="0" bIns="0" anchor="t">
            <a:spAutoFit/>
          </a:bodyPr>
          <a:lstStyle/>
          <a:p>
            <a:pPr algn="l">
              <a:lnSpc>
                <a:spcPct val="112000"/>
              </a:lnSpc>
            </a:pPr>
            <a:r>
              <a:rPr sz="1730" b="0" i="0">
                <a:solidFill>
                  <a:srgbClr val="BEC6D2"/>
                </a:solidFill>
                <a:latin typeface="Aptos"/>
              </a:rPr>
              <a:t>Lives on your machine. Runs on the Claude or Codex subscription you already pay for — "that, but running your subscriptions," as one user put it. Message it from Telegram or GitHub like a colleague. It is still there tomorrow.</a:t>
            </a:r>
          </a:p>
        </p:txBody>
      </p:sp>
      <p:pic>
        <p:nvPicPr>
          <p:cNvPr id="11" name="Picture 10" descr="slide3-interface.png"/>
          <p:cNvPicPr>
            <a:picLocks noChangeAspect="1"/>
          </p:cNvPicPr>
          <p:nvPr/>
        </p:nvPicPr>
        <p:blipFill>
          <a:blip r:embed="rId3"/>
          <a:stretch>
            <a:fillRect/>
          </a:stretch>
        </p:blipFill>
        <p:spPr>
          <a:xfrm>
            <a:off x="6172200" y="777240"/>
            <a:ext cx="4754880" cy="374903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THE WALL</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04</a:t>
            </a:r>
          </a:p>
        </p:txBody>
      </p:sp>
      <p:sp>
        <p:nvSpPr>
          <p:cNvPr id="9" name="TextBox 8"/>
          <p:cNvSpPr txBox="1"/>
          <p:nvPr/>
        </p:nvSpPr>
        <p:spPr>
          <a:xfrm>
            <a:off x="621792" y="969264"/>
            <a:ext cx="5230368" cy="1298448"/>
          </a:xfrm>
          <a:prstGeom prst="rect">
            <a:avLst/>
          </a:prstGeom>
          <a:noFill/>
        </p:spPr>
        <p:txBody>
          <a:bodyPr wrap="square" lIns="0" rIns="0" tIns="0" bIns="0" anchor="t">
            <a:spAutoFit/>
          </a:bodyPr>
          <a:lstStyle/>
          <a:p>
            <a:pPr algn="l"/>
            <a:r>
              <a:rPr sz="2850" b="0" i="0">
                <a:solidFill>
                  <a:srgbClr val="F6F8FC"/>
                </a:solidFill>
                <a:latin typeface="Aptos"/>
              </a:rPr>
              <a:t>Your quota runs out mid-task. Ours waits, then carries on.</a:t>
            </a:r>
          </a:p>
        </p:txBody>
      </p:sp>
      <p:sp>
        <p:nvSpPr>
          <p:cNvPr id="10" name="TextBox 9"/>
          <p:cNvSpPr txBox="1"/>
          <p:nvPr/>
        </p:nvSpPr>
        <p:spPr>
          <a:xfrm>
            <a:off x="658368" y="2505456"/>
            <a:ext cx="5074920" cy="1024128"/>
          </a:xfrm>
          <a:prstGeom prst="rect">
            <a:avLst/>
          </a:prstGeom>
          <a:noFill/>
        </p:spPr>
        <p:txBody>
          <a:bodyPr wrap="square" lIns="0" rIns="0" tIns="0" bIns="0" anchor="t">
            <a:spAutoFit/>
          </a:bodyPr>
          <a:lstStyle/>
          <a:p>
            <a:pPr algn="l"/>
            <a:r>
              <a:rPr sz="1820" b="0" i="0">
                <a:solidFill>
                  <a:srgbClr val="BEC6D2"/>
                </a:solidFill>
                <a:latin typeface="Aptos"/>
              </a:rPr>
              <a:t>It budgets your quota, hands chores to cheaper models, and parks itself at the wall instead of dying halfway.</a:t>
            </a:r>
          </a:p>
        </p:txBody>
      </p:sp>
      <p:sp>
        <p:nvSpPr>
          <p:cNvPr id="11" name="TextBox 10"/>
          <p:cNvSpPr txBox="1"/>
          <p:nvPr/>
        </p:nvSpPr>
        <p:spPr>
          <a:xfrm>
            <a:off x="685800" y="4169663"/>
            <a:ext cx="5212080" cy="1143000"/>
          </a:xfrm>
          <a:prstGeom prst="rect">
            <a:avLst/>
          </a:prstGeom>
          <a:noFill/>
        </p:spPr>
        <p:txBody>
          <a:bodyPr wrap="square" lIns="0" rIns="0" tIns="0" bIns="0" anchor="t">
            <a:spAutoFit/>
          </a:bodyPr>
          <a:lstStyle/>
          <a:p>
            <a:pPr algn="l"/>
            <a:r>
              <a:rPr sz="1700" b="0" i="0">
                <a:solidFill>
                  <a:srgbClr val="FFB739"/>
                </a:solidFill>
                <a:latin typeface="Aptos"/>
              </a:rPr>
              <a:t>Receipt, 5 Sep 2026: Codex hit its weekly wall at 18:16. The seat continued on Claude — same thread, same memory.</a:t>
            </a:r>
          </a:p>
        </p:txBody>
      </p:sp>
      <p:pic>
        <p:nvPicPr>
          <p:cNvPr id="12" name="Picture 11" descr="slide4-wall.png"/>
          <p:cNvPicPr>
            <a:picLocks noChangeAspect="1"/>
          </p:cNvPicPr>
          <p:nvPr/>
        </p:nvPicPr>
        <p:blipFill>
          <a:blip r:embed="rId3"/>
          <a:stretch>
            <a:fillRect/>
          </a:stretch>
        </p:blipFill>
        <p:spPr>
          <a:xfrm>
            <a:off x="6172200" y="777240"/>
            <a:ext cx="4754880" cy="2080260"/>
          </a:xfrm>
          <a:prstGeom prst="rect">
            <a:avLst/>
          </a:prstGeom>
        </p:spPr>
      </p:pic>
      <p:pic>
        <p:nvPicPr>
          <p:cNvPr id="13" name="Picture 12" descr="slide4-receipt.png"/>
          <p:cNvPicPr>
            <a:picLocks noChangeAspect="1"/>
          </p:cNvPicPr>
          <p:nvPr/>
        </p:nvPicPr>
        <p:blipFill>
          <a:blip r:embed="rId4"/>
          <a:stretch>
            <a:fillRect/>
          </a:stretch>
        </p:blipFill>
        <p:spPr>
          <a:xfrm>
            <a:off x="6172200" y="3035808"/>
            <a:ext cx="4754880" cy="13258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WHILE YOU'RE AWAY</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05</a:t>
            </a:r>
          </a:p>
        </p:txBody>
      </p:sp>
      <p:sp>
        <p:nvSpPr>
          <p:cNvPr id="9" name="TextBox 8"/>
          <p:cNvSpPr txBox="1"/>
          <p:nvPr/>
        </p:nvSpPr>
        <p:spPr>
          <a:xfrm>
            <a:off x="621792" y="987552"/>
            <a:ext cx="5943600" cy="731520"/>
          </a:xfrm>
          <a:prstGeom prst="rect">
            <a:avLst/>
          </a:prstGeom>
          <a:noFill/>
        </p:spPr>
        <p:txBody>
          <a:bodyPr wrap="square" lIns="0" rIns="0" tIns="0" bIns="0" anchor="t">
            <a:spAutoFit/>
          </a:bodyPr>
          <a:lstStyle/>
          <a:p>
            <a:pPr algn="l"/>
            <a:r>
              <a:rPr sz="3800" b="0" i="0">
                <a:solidFill>
                  <a:srgbClr val="F6F8FC"/>
                </a:solidFill>
                <a:latin typeface="Aptos"/>
              </a:rPr>
              <a:t>So you can leave.</a:t>
            </a:r>
          </a:p>
        </p:txBody>
      </p:sp>
      <p:sp>
        <p:nvSpPr>
          <p:cNvPr id="10" name="TextBox 9"/>
          <p:cNvSpPr txBox="1"/>
          <p:nvPr/>
        </p:nvSpPr>
        <p:spPr>
          <a:xfrm>
            <a:off x="658368" y="2066543"/>
            <a:ext cx="6126480" cy="1828800"/>
          </a:xfrm>
          <a:prstGeom prst="rect">
            <a:avLst/>
          </a:prstGeom>
          <a:noFill/>
        </p:spPr>
        <p:txBody>
          <a:bodyPr wrap="square" lIns="0" rIns="0" tIns="0" bIns="0" anchor="t">
            <a:spAutoFit/>
          </a:bodyPr>
          <a:lstStyle/>
          <a:p>
            <a:pPr algn="l">
              <a:lnSpc>
                <a:spcPct val="110000"/>
              </a:lnSpc>
            </a:pPr>
            <a:r>
              <a:rPr sz="2000" b="0" i="0">
                <a:solidFill>
                  <a:srgbClr val="BEC6D2"/>
                </a:solidFill>
                <a:latin typeface="Aptos"/>
              </a:rPr>
              <a:t>Receipt, 13 Sep 2026: the founder slept. The seat woke itself at 02:00 and 07:00 and merged a fix each time. By morning its run page listed six merged PRs and one closed issue — one run, one thread, no terminal open.</a:t>
            </a:r>
          </a:p>
        </p:txBody>
      </p:sp>
      <p:sp>
        <p:nvSpPr>
          <p:cNvPr id="11" name="Rectangle 10"/>
          <p:cNvSpPr/>
          <p:nvPr/>
        </p:nvSpPr>
        <p:spPr>
          <a:xfrm>
            <a:off x="685800" y="4370832"/>
            <a:ext cx="589788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617720"/>
            <a:ext cx="2011680" cy="274320"/>
          </a:xfrm>
          <a:prstGeom prst="rect">
            <a:avLst/>
          </a:prstGeom>
          <a:noFill/>
        </p:spPr>
        <p:txBody>
          <a:bodyPr wrap="square" lIns="0" rIns="0" tIns="0" bIns="0" anchor="t">
            <a:spAutoFit/>
          </a:bodyPr>
          <a:lstStyle/>
          <a:p>
            <a:pPr algn="l"/>
            <a:r>
              <a:rPr sz="1250" b="1" i="0">
                <a:solidFill>
                  <a:srgbClr val="C6E5FF"/>
                </a:solidFill>
                <a:latin typeface="Aptos"/>
              </a:rPr>
              <a:t>TWO WAKES</a:t>
            </a:r>
          </a:p>
        </p:txBody>
      </p:sp>
      <p:sp>
        <p:nvSpPr>
          <p:cNvPr id="13" name="TextBox 12"/>
          <p:cNvSpPr txBox="1"/>
          <p:nvPr/>
        </p:nvSpPr>
        <p:spPr>
          <a:xfrm>
            <a:off x="2999232" y="4617720"/>
            <a:ext cx="3108960" cy="274320"/>
          </a:xfrm>
          <a:prstGeom prst="rect">
            <a:avLst/>
          </a:prstGeom>
          <a:noFill/>
        </p:spPr>
        <p:txBody>
          <a:bodyPr wrap="square" lIns="0" rIns="0" tIns="0" bIns="0" anchor="t">
            <a:spAutoFit/>
          </a:bodyPr>
          <a:lstStyle/>
          <a:p>
            <a:pPr algn="l"/>
            <a:r>
              <a:rPr sz="1250" b="1" i="0">
                <a:solidFill>
                  <a:srgbClr val="FFB739"/>
                </a:solidFill>
                <a:latin typeface="Aptos"/>
              </a:rPr>
              <a:t>SIX PRs · ONE ISSUE CLOSED</a:t>
            </a:r>
          </a:p>
        </p:txBody>
      </p:sp>
      <p:pic>
        <p:nvPicPr>
          <p:cNvPr id="14" name="loop-5-the-run-pag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6675120" y="822960"/>
            <a:ext cx="4937760" cy="30861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4"/>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FROM A PHONE</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06</a:t>
            </a:r>
          </a:p>
        </p:txBody>
      </p:sp>
      <p:sp>
        <p:nvSpPr>
          <p:cNvPr id="9" name="TextBox 8"/>
          <p:cNvSpPr txBox="1"/>
          <p:nvPr/>
        </p:nvSpPr>
        <p:spPr>
          <a:xfrm>
            <a:off x="621792" y="987552"/>
            <a:ext cx="5303520" cy="731520"/>
          </a:xfrm>
          <a:prstGeom prst="rect">
            <a:avLst/>
          </a:prstGeom>
          <a:noFill/>
        </p:spPr>
        <p:txBody>
          <a:bodyPr wrap="square" lIns="0" rIns="0" tIns="0" bIns="0" anchor="t">
            <a:spAutoFit/>
          </a:bodyPr>
          <a:lstStyle/>
          <a:p>
            <a:pPr algn="l"/>
            <a:r>
              <a:rPr sz="3600" b="0" i="0">
                <a:solidFill>
                  <a:srgbClr val="F6F8FC"/>
                </a:solidFill>
                <a:latin typeface="Aptos"/>
              </a:rPr>
              <a:t>Message it. It ships.</a:t>
            </a:r>
          </a:p>
        </p:txBody>
      </p:sp>
      <p:sp>
        <p:nvSpPr>
          <p:cNvPr id="10" name="TextBox 9"/>
          <p:cNvSpPr txBox="1"/>
          <p:nvPr/>
        </p:nvSpPr>
        <p:spPr>
          <a:xfrm>
            <a:off x="658368" y="2148840"/>
            <a:ext cx="5349240" cy="1901952"/>
          </a:xfrm>
          <a:prstGeom prst="rect">
            <a:avLst/>
          </a:prstGeom>
          <a:noFill/>
        </p:spPr>
        <p:txBody>
          <a:bodyPr wrap="square" lIns="0" rIns="0" tIns="0" bIns="0" anchor="t">
            <a:spAutoFit/>
          </a:bodyPr>
          <a:lstStyle/>
          <a:p>
            <a:pPr algn="l">
              <a:lnSpc>
                <a:spcPct val="110000"/>
              </a:lnSpc>
            </a:pPr>
            <a:r>
              <a:rPr sz="1900" b="0" i="0">
                <a:solidFill>
                  <a:srgbClr val="BEC6D2"/>
                </a:solidFill>
                <a:latin typeface="Aptos"/>
              </a:rPr>
              <a:t>Receipt, 1 Sep 2026: a change requested from WhatsApp; the PR opened 76 seconds after the follow-up; merged from the phone. No terminal was opened.</a:t>
            </a:r>
          </a:p>
        </p:txBody>
      </p:sp>
      <p:sp>
        <p:nvSpPr>
          <p:cNvPr id="11" name="Rectangle 10"/>
          <p:cNvSpPr/>
          <p:nvPr/>
        </p:nvSpPr>
        <p:spPr>
          <a:xfrm>
            <a:off x="685800" y="4498848"/>
            <a:ext cx="512064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773168"/>
            <a:ext cx="2194560" cy="329184"/>
          </a:xfrm>
          <a:prstGeom prst="rect">
            <a:avLst/>
          </a:prstGeom>
          <a:noFill/>
        </p:spPr>
        <p:txBody>
          <a:bodyPr wrap="square" lIns="0" rIns="0" tIns="0" bIns="0" anchor="t">
            <a:spAutoFit/>
          </a:bodyPr>
          <a:lstStyle/>
          <a:p>
            <a:pPr algn="l"/>
            <a:r>
              <a:rPr sz="2000" b="1" i="0">
                <a:solidFill>
                  <a:srgbClr val="FFB739"/>
                </a:solidFill>
                <a:latin typeface="Aptos"/>
              </a:rPr>
              <a:t>76 SECONDS</a:t>
            </a:r>
          </a:p>
        </p:txBody>
      </p:sp>
      <p:sp>
        <p:nvSpPr>
          <p:cNvPr id="13" name="TextBox 12"/>
          <p:cNvSpPr txBox="1"/>
          <p:nvPr/>
        </p:nvSpPr>
        <p:spPr>
          <a:xfrm>
            <a:off x="2880360" y="4800600"/>
            <a:ext cx="2743200" cy="310896"/>
          </a:xfrm>
          <a:prstGeom prst="rect">
            <a:avLst/>
          </a:prstGeom>
          <a:noFill/>
        </p:spPr>
        <p:txBody>
          <a:bodyPr wrap="square" lIns="0" rIns="0" tIns="0" bIns="0" anchor="t">
            <a:spAutoFit/>
          </a:bodyPr>
          <a:lstStyle/>
          <a:p>
            <a:pPr algn="l"/>
            <a:r>
              <a:rPr sz="1550" b="0" i="0">
                <a:solidFill>
                  <a:srgbClr val="C6E5FF"/>
                </a:solidFill>
                <a:latin typeface="Aptos"/>
              </a:rPr>
              <a:t>request → PR → merge</a:t>
            </a:r>
          </a:p>
        </p:txBody>
      </p:sp>
      <p:pic>
        <p:nvPicPr>
          <p:cNvPr id="14" name="loop-3-stag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6446520" y="841248"/>
            <a:ext cx="4846320" cy="27432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4"/>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BUILT WITH IT, BY IT</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07</a:t>
            </a:r>
          </a:p>
        </p:txBody>
      </p:sp>
      <p:sp>
        <p:nvSpPr>
          <p:cNvPr id="9" name="TextBox 8"/>
          <p:cNvSpPr txBox="1"/>
          <p:nvPr/>
        </p:nvSpPr>
        <p:spPr>
          <a:xfrm>
            <a:off x="621792" y="987552"/>
            <a:ext cx="5669280" cy="658368"/>
          </a:xfrm>
          <a:prstGeom prst="rect">
            <a:avLst/>
          </a:prstGeom>
          <a:noFill/>
        </p:spPr>
        <p:txBody>
          <a:bodyPr wrap="square" lIns="0" rIns="0" tIns="0" bIns="0" anchor="t">
            <a:spAutoFit/>
          </a:bodyPr>
          <a:lstStyle/>
          <a:p>
            <a:pPr algn="l"/>
            <a:r>
              <a:rPr sz="3400" b="0" i="0">
                <a:solidFill>
                  <a:srgbClr val="F6F8FC"/>
                </a:solidFill>
                <a:latin typeface="Aptos"/>
              </a:rPr>
              <a:t>The repo is the demo.</a:t>
            </a:r>
          </a:p>
        </p:txBody>
      </p:sp>
      <p:sp>
        <p:nvSpPr>
          <p:cNvPr id="10" name="TextBox 9"/>
          <p:cNvSpPr txBox="1"/>
          <p:nvPr/>
        </p:nvSpPr>
        <p:spPr>
          <a:xfrm>
            <a:off x="658368" y="1847088"/>
            <a:ext cx="5532120" cy="1874519"/>
          </a:xfrm>
          <a:prstGeom prst="rect">
            <a:avLst/>
          </a:prstGeom>
          <a:noFill/>
        </p:spPr>
        <p:txBody>
          <a:bodyPr wrap="square" lIns="0" rIns="0" tIns="0" bIns="0" anchor="t">
            <a:spAutoFit/>
          </a:bodyPr>
          <a:lstStyle/>
          <a:p>
            <a:pPr algn="l">
              <a:lnSpc>
                <a:spcPct val="108000"/>
              </a:lnSpc>
            </a:pPr>
            <a:r>
              <a:rPr sz="1730" b="0" i="0">
                <a:solidFill>
                  <a:srgbClr val="BEC6D2"/>
                </a:solidFill>
                <a:latin typeface="Aptos"/>
              </a:rPr>
              <a:t>As of 13 Sep 2026: 2,946 commits on main since March — 1,898 of them the resident's own (64%). 1,325 merged. 27 releases. A 272-page knowledge base it writes and keeps.</a:t>
            </a:r>
          </a:p>
        </p:txBody>
      </p:sp>
      <p:sp>
        <p:nvSpPr>
          <p:cNvPr id="11" name="TextBox 10"/>
          <p:cNvSpPr txBox="1"/>
          <p:nvPr/>
        </p:nvSpPr>
        <p:spPr>
          <a:xfrm>
            <a:off x="685800" y="4005072"/>
            <a:ext cx="5486400" cy="594360"/>
          </a:xfrm>
          <a:prstGeom prst="rect">
            <a:avLst/>
          </a:prstGeom>
          <a:noFill/>
        </p:spPr>
        <p:txBody>
          <a:bodyPr wrap="square" lIns="0" rIns="0" tIns="0" bIns="0" anchor="t">
            <a:spAutoFit/>
          </a:bodyPr>
          <a:lstStyle/>
          <a:p>
            <a:pPr algn="l"/>
            <a:r>
              <a:rPr sz="1600" b="0" i="0">
                <a:solidFill>
                  <a:srgbClr val="C6E5FF"/>
                </a:solidFill>
                <a:latin typeface="Aptos"/>
              </a:rPr>
              <a:t>It edited the video on slide 6, asked another agent to paint slide 8, and built this deck.</a:t>
            </a:r>
          </a:p>
        </p:txBody>
      </p:sp>
      <p:sp>
        <p:nvSpPr>
          <p:cNvPr id="12" name="TextBox 11"/>
          <p:cNvSpPr txBox="1"/>
          <p:nvPr/>
        </p:nvSpPr>
        <p:spPr>
          <a:xfrm>
            <a:off x="685800" y="4892040"/>
            <a:ext cx="5577840" cy="594360"/>
          </a:xfrm>
          <a:prstGeom prst="rect">
            <a:avLst/>
          </a:prstGeom>
          <a:noFill/>
        </p:spPr>
        <p:txBody>
          <a:bodyPr wrap="square" lIns="0" rIns="0" tIns="0" bIns="0" anchor="t">
            <a:spAutoFit/>
          </a:bodyPr>
          <a:lstStyle/>
          <a:p>
            <a:pPr algn="l"/>
            <a:r>
              <a:rPr sz="1700" b="0" i="1">
                <a:solidFill>
                  <a:srgbClr val="FFB739"/>
                </a:solidFill>
                <a:latin typeface="Aptos"/>
              </a:rPr>
              <a:t>It reviewed this deck and found it had no numbers. Twice.</a:t>
            </a:r>
          </a:p>
        </p:txBody>
      </p:sp>
      <p:pic>
        <p:nvPicPr>
          <p:cNvPr id="13" name="Picture 12" descr="image.jpg"/>
          <p:cNvPicPr>
            <a:picLocks noChangeAspect="1"/>
          </p:cNvPicPr>
          <p:nvPr/>
        </p:nvPicPr>
        <p:blipFill>
          <a:blip r:embed="rId3"/>
          <a:stretch>
            <a:fillRect/>
          </a:stretch>
        </p:blipFill>
        <p:spPr>
          <a:xfrm>
            <a:off x="6492240" y="841248"/>
            <a:ext cx="4480560" cy="2971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ight-the-tree-grew-35pct.pn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WE ARE SMALL</a:t>
            </a:r>
          </a:p>
        </p:txBody>
      </p:sp>
      <p:sp>
        <p:nvSpPr>
          <p:cNvPr id="4" name="TextBox 3"/>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5" name="Rectangle 4"/>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7" name="TextBox 6"/>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08</a:t>
            </a:r>
          </a:p>
        </p:txBody>
      </p:sp>
      <p:sp>
        <p:nvSpPr>
          <p:cNvPr id="8" name="TextBox 7"/>
          <p:cNvSpPr txBox="1"/>
          <p:nvPr/>
        </p:nvSpPr>
        <p:spPr>
          <a:xfrm>
            <a:off x="621792" y="987552"/>
            <a:ext cx="7589520" cy="658368"/>
          </a:xfrm>
          <a:prstGeom prst="rect">
            <a:avLst/>
          </a:prstGeom>
          <a:noFill/>
        </p:spPr>
        <p:txBody>
          <a:bodyPr wrap="square" lIns="0" rIns="0" tIns="0" bIns="0" anchor="t">
            <a:spAutoFit/>
          </a:bodyPr>
          <a:lstStyle/>
          <a:p>
            <a:pPr algn="l"/>
            <a:r>
              <a:rPr sz="3400" b="0" i="0">
                <a:solidFill>
                  <a:srgbClr val="F6F8FC"/>
                </a:solidFill>
                <a:latin typeface="Aptos"/>
              </a:rPr>
              <a:t>We are small. It doesn't matter.</a:t>
            </a:r>
          </a:p>
        </p:txBody>
      </p:sp>
      <p:sp>
        <p:nvSpPr>
          <p:cNvPr id="9" name="TextBox 8"/>
          <p:cNvSpPr txBox="1"/>
          <p:nvPr/>
        </p:nvSpPr>
        <p:spPr>
          <a:xfrm>
            <a:off x="658368" y="1856231"/>
            <a:ext cx="8001000" cy="640080"/>
          </a:xfrm>
          <a:prstGeom prst="rect">
            <a:avLst/>
          </a:prstGeom>
          <a:noFill/>
        </p:spPr>
        <p:txBody>
          <a:bodyPr wrap="square" lIns="0" rIns="0" tIns="0" bIns="0" anchor="t">
            <a:spAutoFit/>
          </a:bodyPr>
          <a:lstStyle/>
          <a:p>
            <a:pPr algn="l"/>
            <a:r>
              <a:rPr sz="1720" b="0" i="0">
                <a:solidFill>
                  <a:srgbClr val="F6F8FC"/>
                </a:solidFill>
                <a:latin typeface="Aptos"/>
              </a:rPr>
              <a:t>Two founders. Zero raised. Three daily users — one of them is the pal. No marketing team; this deck is the marketing.</a:t>
            </a:r>
          </a:p>
        </p:txBody>
      </p:sp>
      <p:sp>
        <p:nvSpPr>
          <p:cNvPr id="10" name="TextBox 9"/>
          <p:cNvSpPr txBox="1"/>
          <p:nvPr/>
        </p:nvSpPr>
        <p:spPr>
          <a:xfrm>
            <a:off x="658368" y="2670048"/>
            <a:ext cx="8001000" cy="502920"/>
          </a:xfrm>
          <a:prstGeom prst="rect">
            <a:avLst/>
          </a:prstGeom>
          <a:noFill/>
        </p:spPr>
        <p:txBody>
          <a:bodyPr wrap="square" lIns="0" rIns="0" tIns="0" bIns="0" anchor="t">
            <a:spAutoFit/>
          </a:bodyPr>
          <a:lstStyle/>
          <a:p>
            <a:pPr algn="l"/>
            <a:r>
              <a:rPr sz="1650" b="0" i="0">
                <a:solidFill>
                  <a:srgbClr val="F6F8FC"/>
                </a:solidFill>
                <a:latin typeface="Aptos"/>
              </a:rPr>
              <a:t>What we lack: money, and anyone who has sold software before.</a:t>
            </a:r>
          </a:p>
        </p:txBody>
      </p:sp>
      <p:sp>
        <p:nvSpPr>
          <p:cNvPr id="11" name="TextBox 10"/>
          <p:cNvSpPr txBox="1"/>
          <p:nvPr/>
        </p:nvSpPr>
        <p:spPr>
          <a:xfrm>
            <a:off x="658368" y="3364992"/>
            <a:ext cx="8001000" cy="658368"/>
          </a:xfrm>
          <a:prstGeom prst="rect">
            <a:avLst/>
          </a:prstGeom>
          <a:noFill/>
        </p:spPr>
        <p:txBody>
          <a:bodyPr wrap="square" lIns="0" rIns="0" tIns="0" bIns="0" anchor="t">
            <a:spAutoFit/>
          </a:bodyPr>
          <a:lstStyle/>
          <a:p>
            <a:pPr algn="l"/>
            <a:r>
              <a:rPr sz="1650" b="0" i="0">
                <a:solidFill>
                  <a:srgbClr val="F6F8FC"/>
                </a:solidFill>
                <a:latin typeface="Aptos"/>
              </a:rPr>
              <a:t>We're building it anyway — an AI pal you play: a resident on your machine, a map of your project it walks, a game about the work.</a:t>
            </a:r>
          </a:p>
        </p:txBody>
      </p:sp>
      <p:sp>
        <p:nvSpPr>
          <p:cNvPr id="12" name="TextBox 11"/>
          <p:cNvSpPr txBox="1"/>
          <p:nvPr/>
        </p:nvSpPr>
        <p:spPr>
          <a:xfrm>
            <a:off x="658368" y="4105656"/>
            <a:ext cx="8001000" cy="457200"/>
          </a:xfrm>
          <a:prstGeom prst="rect">
            <a:avLst/>
          </a:prstGeom>
          <a:noFill/>
        </p:spPr>
        <p:txBody>
          <a:bodyPr wrap="square" lIns="0" rIns="0" tIns="0" bIns="0" anchor="t">
            <a:spAutoFit/>
          </a:bodyPr>
          <a:lstStyle/>
          <a:p>
            <a:pPr algn="l"/>
            <a:r>
              <a:rPr sz="1800" b="0" i="0">
                <a:solidFill>
                  <a:srgbClr val="FFB739"/>
                </a:solidFill>
                <a:latin typeface="Aptos"/>
              </a:rPr>
              <a:t>Watch, or join. brnrd.dev · open source · $7 flat hosted, live.</a:t>
            </a:r>
          </a:p>
        </p:txBody>
      </p:sp>
      <p:sp>
        <p:nvSpPr>
          <p:cNvPr id="13" name="TextBox 12"/>
          <p:cNvSpPr txBox="1"/>
          <p:nvPr/>
        </p:nvSpPr>
        <p:spPr>
          <a:xfrm>
            <a:off x="7973568" y="5248656"/>
            <a:ext cx="3429000" cy="384048"/>
          </a:xfrm>
          <a:prstGeom prst="rect">
            <a:avLst/>
          </a:prstGeom>
          <a:noFill/>
        </p:spPr>
        <p:txBody>
          <a:bodyPr wrap="square" lIns="0" rIns="0" tIns="0" bIns="0" anchor="t">
            <a:spAutoFit/>
          </a:bodyPr>
          <a:lstStyle/>
          <a:p>
            <a:pPr algn="r"/>
            <a:r>
              <a:rPr sz="1150" b="0" i="1">
                <a:solidFill>
                  <a:srgbClr val="C6E5FF"/>
                </a:solidFill>
                <a:latin typeface="Aptos"/>
              </a:rPr>
              <a:t>(the pal decided what this should be and asked another agent to draw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ABOVE THE VENDORS</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09</a:t>
            </a:r>
          </a:p>
        </p:txBody>
      </p:sp>
      <p:sp>
        <p:nvSpPr>
          <p:cNvPr id="9" name="TextBox 8"/>
          <p:cNvSpPr txBox="1"/>
          <p:nvPr/>
        </p:nvSpPr>
        <p:spPr>
          <a:xfrm>
            <a:off x="621792" y="987552"/>
            <a:ext cx="7635240" cy="1170432"/>
          </a:xfrm>
          <a:prstGeom prst="rect">
            <a:avLst/>
          </a:prstGeom>
          <a:noFill/>
        </p:spPr>
        <p:txBody>
          <a:bodyPr wrap="square" lIns="0" rIns="0" tIns="0" bIns="0" anchor="t">
            <a:spAutoFit/>
          </a:bodyPr>
          <a:lstStyle/>
          <a:p>
            <a:pPr algn="l"/>
            <a:r>
              <a:rPr sz="3200" b="0" i="0">
                <a:solidFill>
                  <a:srgbClr val="F6F8FC"/>
                </a:solidFill>
                <a:latin typeface="Aptos"/>
              </a:rPr>
              <a:t>Their cloud moves the hands. The memory has to live somewhere.</a:t>
            </a:r>
          </a:p>
        </p:txBody>
      </p:sp>
      <p:sp>
        <p:nvSpPr>
          <p:cNvPr id="10" name="TextBox 9"/>
          <p:cNvSpPr txBox="1"/>
          <p:nvPr/>
        </p:nvSpPr>
        <p:spPr>
          <a:xfrm>
            <a:off x="658368" y="2514600"/>
            <a:ext cx="7498079" cy="1645920"/>
          </a:xfrm>
          <a:prstGeom prst="rect">
            <a:avLst/>
          </a:prstGeom>
          <a:noFill/>
        </p:spPr>
        <p:txBody>
          <a:bodyPr wrap="square" lIns="0" rIns="0" tIns="0" bIns="0" anchor="t">
            <a:spAutoFit/>
          </a:bodyPr>
          <a:lstStyle/>
          <a:p>
            <a:pPr algn="l">
              <a:lnSpc>
                <a:spcPct val="112000"/>
              </a:lnSpc>
            </a:pPr>
            <a:r>
              <a:rPr sz="1900" b="0" i="0">
                <a:solidFill>
                  <a:srgbClr val="BEC6D2"/>
                </a:solidFill>
                <a:latin typeface="Aptos"/>
              </a:rPr>
              <a:t>Codex and Claude now run tasks remotely. Each run is still a session inside one vendor's walled garden. Whatever decides what to do next, remembers last week and collects the result has to live above the vendors. That layer is brnrd, on your machine, on the subscription you already pay for.</a:t>
            </a:r>
          </a:p>
        </p:txBody>
      </p:sp>
      <p:sp>
        <p:nvSpPr>
          <p:cNvPr id="11" name="Rectangle 10"/>
          <p:cNvSpPr/>
          <p:nvPr/>
        </p:nvSpPr>
        <p:spPr>
          <a:xfrm>
            <a:off x="685800" y="4370832"/>
            <a:ext cx="740664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572000"/>
            <a:ext cx="7498079" cy="1005840"/>
          </a:xfrm>
          <a:prstGeom prst="rect">
            <a:avLst/>
          </a:prstGeom>
          <a:noFill/>
        </p:spPr>
        <p:txBody>
          <a:bodyPr wrap="square" lIns="0" rIns="0" tIns="0" bIns="0" anchor="t">
            <a:spAutoFit/>
          </a:bodyPr>
          <a:lstStyle/>
          <a:p>
            <a:pPr algn="l">
              <a:lnSpc>
                <a:spcPct val="110000"/>
              </a:lnSpc>
            </a:pPr>
            <a:r>
              <a:rPr sz="1750" b="0" i="0">
                <a:solidFill>
                  <a:srgbClr val="C6E5FF"/>
                </a:solidFill>
                <a:latin typeface="Aptos"/>
              </a:rPr>
              <a:t>Every run carries a receipt — wall time, tokens, the share of your week it took. You juggle subscriptions to turn money into results; the pal keeps the book.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TEAM &amp; WEB SUMMIT</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10</a:t>
            </a:r>
          </a:p>
        </p:txBody>
      </p:sp>
      <p:sp>
        <p:nvSpPr>
          <p:cNvPr id="9" name="TextBox 8"/>
          <p:cNvSpPr txBox="1"/>
          <p:nvPr/>
        </p:nvSpPr>
        <p:spPr>
          <a:xfrm>
            <a:off x="621792" y="987552"/>
            <a:ext cx="6583680" cy="658368"/>
          </a:xfrm>
          <a:prstGeom prst="rect">
            <a:avLst/>
          </a:prstGeom>
          <a:noFill/>
        </p:spPr>
        <p:txBody>
          <a:bodyPr wrap="square" lIns="0" rIns="0" tIns="0" bIns="0" anchor="t">
            <a:spAutoFit/>
          </a:bodyPr>
          <a:lstStyle/>
          <a:p>
            <a:pPr algn="l"/>
            <a:r>
              <a:rPr sz="3300" b="0" i="0">
                <a:solidFill>
                  <a:srgbClr val="F6F8FC"/>
                </a:solidFill>
                <a:latin typeface="Aptos"/>
              </a:rPr>
              <a:t>Remembered by the right people.</a:t>
            </a:r>
          </a:p>
        </p:txBody>
      </p:sp>
      <p:sp>
        <p:nvSpPr>
          <p:cNvPr id="10" name="Rectangle 9"/>
          <p:cNvSpPr/>
          <p:nvPr/>
        </p:nvSpPr>
        <p:spPr>
          <a:xfrm>
            <a:off x="731520" y="2926080"/>
            <a:ext cx="2331720" cy="12801"/>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200400"/>
            <a:ext cx="2651760" cy="658368"/>
          </a:xfrm>
          <a:prstGeom prst="rect">
            <a:avLst/>
          </a:prstGeom>
          <a:noFill/>
        </p:spPr>
        <p:txBody>
          <a:bodyPr wrap="square" lIns="0" rIns="0" tIns="0" bIns="0" anchor="t">
            <a:spAutoFit/>
          </a:bodyPr>
          <a:lstStyle/>
          <a:p>
            <a:pPr algn="l"/>
            <a:r>
              <a:rPr sz="1620" b="0" i="0">
                <a:solidFill>
                  <a:srgbClr val="F6F8FC"/>
                </a:solidFill>
                <a:latin typeface="Aptos"/>
              </a:rPr>
              <a:t>Alexandra Lapunova — co-founder &amp; President</a:t>
            </a:r>
          </a:p>
        </p:txBody>
      </p:sp>
      <p:sp>
        <p:nvSpPr>
          <p:cNvPr id="12" name="Rectangle 11"/>
          <p:cNvSpPr/>
          <p:nvPr/>
        </p:nvSpPr>
        <p:spPr>
          <a:xfrm>
            <a:off x="3886200" y="2926080"/>
            <a:ext cx="2331720" cy="12801"/>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86200" y="3200400"/>
            <a:ext cx="2651760" cy="658368"/>
          </a:xfrm>
          <a:prstGeom prst="rect">
            <a:avLst/>
          </a:prstGeom>
          <a:noFill/>
        </p:spPr>
        <p:txBody>
          <a:bodyPr wrap="square" lIns="0" rIns="0" tIns="0" bIns="0" anchor="t">
            <a:spAutoFit/>
          </a:bodyPr>
          <a:lstStyle/>
          <a:p>
            <a:pPr algn="l"/>
            <a:r>
              <a:rPr sz="1620" b="0" i="0">
                <a:solidFill>
                  <a:srgbClr val="F6F8FC"/>
                </a:solidFill>
                <a:latin typeface="Aptos"/>
              </a:rPr>
              <a:t>Arseni Lapunov — co-founder &amp; CTO</a:t>
            </a:r>
          </a:p>
        </p:txBody>
      </p:sp>
      <p:sp>
        <p:nvSpPr>
          <p:cNvPr id="14" name="Rectangle 13"/>
          <p:cNvSpPr/>
          <p:nvPr/>
        </p:nvSpPr>
        <p:spPr>
          <a:xfrm>
            <a:off x="6876288" y="2926080"/>
            <a:ext cx="2331720" cy="12801"/>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76288" y="3200400"/>
            <a:ext cx="2651760" cy="658368"/>
          </a:xfrm>
          <a:prstGeom prst="rect">
            <a:avLst/>
          </a:prstGeom>
          <a:noFill/>
        </p:spPr>
        <p:txBody>
          <a:bodyPr wrap="square" lIns="0" rIns="0" tIns="0" bIns="0" anchor="t">
            <a:spAutoFit/>
          </a:bodyPr>
          <a:lstStyle/>
          <a:p>
            <a:pPr algn="l"/>
            <a:r>
              <a:rPr sz="1620" b="0" i="0">
                <a:solidFill>
                  <a:srgbClr val="F6F8FC"/>
                </a:solidFill>
                <a:latin typeface="Aptos"/>
              </a:rPr>
              <a:t>HugiMuni SAS, France</a:t>
            </a:r>
          </a:p>
        </p:txBody>
      </p:sp>
      <p:sp>
        <p:nvSpPr>
          <p:cNvPr id="16" name="TextBox 15"/>
          <p:cNvSpPr txBox="1"/>
          <p:nvPr/>
        </p:nvSpPr>
        <p:spPr>
          <a:xfrm>
            <a:off x="731520" y="4608576"/>
            <a:ext cx="9052560" cy="731520"/>
          </a:xfrm>
          <a:prstGeom prst="rect">
            <a:avLst/>
          </a:prstGeom>
          <a:noFill/>
        </p:spPr>
        <p:txBody>
          <a:bodyPr wrap="square" lIns="0" rIns="0" tIns="0" bIns="0" anchor="t">
            <a:spAutoFit/>
          </a:bodyPr>
          <a:lstStyle/>
          <a:p>
            <a:pPr algn="l"/>
            <a:r>
              <a:rPr sz="1700" b="0" i="0">
                <a:solidFill>
                  <a:srgbClr val="BEC6D2"/>
                </a:solidFill>
                <a:latin typeface="Aptos"/>
              </a:rPr>
              <a:t>At Web Summit: show it, meet the first users and partners, and the people building agents who want a pal above the vendors.</a:t>
            </a:r>
          </a:p>
        </p:txBody>
      </p:sp>
      <p:sp>
        <p:nvSpPr>
          <p:cNvPr id="17" name="TextBox 16"/>
          <p:cNvSpPr txBox="1"/>
          <p:nvPr/>
        </p:nvSpPr>
        <p:spPr>
          <a:xfrm>
            <a:off x="731520" y="5486400"/>
            <a:ext cx="1828800" cy="320040"/>
          </a:xfrm>
          <a:prstGeom prst="rect">
            <a:avLst/>
          </a:prstGeom>
          <a:noFill/>
        </p:spPr>
        <p:txBody>
          <a:bodyPr wrap="square" lIns="0" rIns="0" tIns="0" bIns="0" anchor="t">
            <a:spAutoFit/>
          </a:bodyPr>
          <a:lstStyle/>
          <a:p>
            <a:pPr algn="l"/>
            <a:r>
              <a:rPr sz="2000" b="0" i="0">
                <a:solidFill>
                  <a:srgbClr val="FFB739"/>
                </a:solidFill>
                <a:latin typeface="Aptos"/>
              </a:rPr>
              <a:t>brnrd.dev</a:t>
            </a:r>
          </a:p>
        </p:txBody>
      </p:sp>
      <p:pic>
        <p:nvPicPr>
          <p:cNvPr id="18" name="Picture 17" descr="image.png"/>
          <p:cNvPicPr>
            <a:picLocks noChangeAspect="1"/>
          </p:cNvPicPr>
          <p:nvPr/>
        </p:nvPicPr>
        <p:blipFill>
          <a:blip r:embed="rId3"/>
          <a:stretch>
            <a:fillRect/>
          </a:stretch>
        </p:blipFill>
        <p:spPr>
          <a:xfrm>
            <a:off x="8946489" y="816559"/>
            <a:ext cx="870508" cy="54223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brnrd — Web Summit 2026 pitch deck v12</dc:title>
  <dc:subject>PITCH deck</dc:subject>
  <dc:creator>HugiMuni SAS</dc:creator>
  <cp:keywords/>
  <dc:description>generated using python-pptx</dc:description>
  <cp:lastModifiedBy>Steve Canny</cp:lastModifiedBy>
  <cp:revision>1</cp:revision>
  <dcterms:created xsi:type="dcterms:W3CDTF">2026-09-13T00:00:00Z</dcterms:created>
  <dcterms:modified xsi:type="dcterms:W3CDTF">2026-09-13T00:00:00Z</dcterms:modified>
  <cp:category/>
</cp:coreProperties>
</file>