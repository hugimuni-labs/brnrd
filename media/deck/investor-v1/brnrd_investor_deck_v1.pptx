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Sentence: outline slide 1 (investor-deck-outline-2026-09-20.md) / STATE §The sentence.</a:t>
            </a:r>
          </a:p>
          <a:p>
            <a:r>
              <a:t>Media: loop-3-stage (a request from the phone; the PR 76 seconds after) — the Telegram line. Receipt 1 Sep 2026, carried from the v11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months / 176 days / born 2026-03-28: STATE §Building (age).</a:t>
            </a:r>
          </a:p>
          <a:p>
            <a:r>
              <a:t>Commits: `git rev-list --count main` run at build time = 3,119 (STATE printed 3,115 on 2026-09-20 morning; it moves).</a:t>
            </a:r>
          </a:p>
          <a:p>
            <a:r>
              <a:t>Resident's share: `git log --author=brnrd-bot --oneline main | wc -l` at build time = 1,402; 1,402/3,119 = 45 %. (STATE only says "&gt;1,000 opened by the resident"; the exact count was to be re-measured before quoting.)</a:t>
            </a:r>
          </a:p>
          <a:p>
            <a:r>
              <a:t>PRs 2,056 numbered, #2055/#2056 merged 12:54Z; tests 7,172; seventy-hour run (70 h 24 m, 27 PRs merged, 31 strands): STATE §Building.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 concessions ("does not survive shutdown", "persistent terminal", transcripts on Anthropic's servers): PLAN §What we sell items 1 and 5 (quoting the vendors' docs, verified 2026-09-07 in residency-competitive-scan-2026-09-07.md) / STATE §The field.</a:t>
            </a:r>
          </a:p>
          <a:p>
            <a:r>
              <a:t>835 = claude-code `background restart`, 512 = `persistent memory sessions`: ISSUES §Counts table (GitHub full-text search hits, an upper bound on noise, not a count of complainers). 411 👍 = openai/codex#9224, ISSUES §Top 20 row 1.</a:t>
            </a:r>
          </a:p>
          <a:p>
            <a:r>
              <a:t>1M weekly Claude Code users: outline slide 3 only — not on the four state pages; unverified here (see report ## Open).</a:t>
            </a:r>
          </a:p>
          <a:p>
            <a:r>
              <a:t>"The vendors prove the category but stay a session": outline §What carries over (v10 slide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lines: PLAN §What we sell — "What the docs say the platform does not do" items 1–5, condensed.</a:t>
            </a:r>
          </a:p>
          <a:p>
            <a:r>
              <a:t>5 Sep 18:16 Codex wall receipt: carried from the v11 deck slide 4 (outline §What carries over); v11 build cites "Receipt, 5 Sep 2026".</a:t>
            </a:r>
          </a:p>
          <a:p>
            <a:r>
              <a:t>Media: loop-2-the-wall.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elements and the caption: outline slide 5. No numbers on this slide.</a:t>
            </a:r>
          </a:p>
          <a:p>
            <a:r>
              <a:t>Media: loop-4-away (the seat working while the founder is away; v10/v11 "while you're away", receipt 13 Sep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outline slide 6. The frame is media/fields/field8-lit.png (field 8, "the streets"; 1,956 rooms, 137 lit, 162 streets printed in the image header — kb/log.md 2026-09-19 night entry, #2050).</a:t>
            </a:r>
          </a:p>
          <a:p>
            <a:r>
              <a:t>Not a claim of shipped product: the deck says "in the workshop" (outline).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$7/mo hosted, Stripe live: STATE §Building (offer).</a:t>
            </a:r>
          </a:p>
          <a:p>
            <a:r>
              <a:t>$433 (Fable 5.1) – $1,159 (Fable 5), $100/mo Max 5×, 70 h, 977 M tokens for 40 points of the weekly window: PRICE Table 2 and §The sentence. A yardstick, not a saving (PRICE: a subscription limit is a window that refills, not a bill).</a:t>
            </a:r>
          </a:p>
          <a:p>
            <a:r>
              <a:t>Business model text: outline slide 7; local-runner bet: STATE §The bets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3, external installs 0 recorded, first task 0, paid 0, 8 stars / 4 forks: STATE §Using. "Absence = nothing recorded, never zero-by-measurement" (STATE): hence "0 recorded".</a:t>
            </a:r>
          </a:p>
          <a:p>
            <a:r>
              <a:t>Counter shipped 2026-09-20 and the second-task return metric: outline slide 8 / PLAN §The metric.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rows and their funnel columns: outline slide 9; PLAN §The seller: the install; STATE §The bets (2) — X replies measured dead at 3 followers, streams are the untested channel.</a:t>
            </a:r>
          </a:p>
          <a:p>
            <a:r>
              <a:t>No numbers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Exclusive: PLAN §What we sell items 1–5; STATE §What we claim nobody did holistically ("claims, not yet validated by a user").</a:t>
            </a:r>
          </a:p>
          <a:p>
            <a:r>
              <a:t>Parity: STATE §The field ("runs while you're away is native on both platforms"; memory on by default); ISSUES §What we do worse (/usage built in).</a:t>
            </a:r>
          </a:p>
          <a:p>
            <a:r>
              <a:t>Worse: ISSUES §What we do worse (memory zero setup, background needs no host natively, phone UI, cost) + outline slide 10 (install, phone UI, no cloud runs, no security audit).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outline slide 11. Resident commits: `git log --author=brnrd-bot` at build time = 1,402 of 3,119.</a:t>
            </a:r>
          </a:p>
          <a:p>
            <a:r>
              <a:t>"Six months of the repo": STATE §Building (born 2026-03-28, 176 days).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options and the roadmap: outline slide 12 and §The two paragraphs ("On the $10M"). No TAM number anywhere.</a:t>
            </a:r>
          </a:p>
          <a:p>
            <a:r>
              <a:t>STATE §The bets (4) records the founders' current posture as "Not raising" — the options above are the outline's, not a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from v10/v11 backup card B1 (build_v11.py SLIDES[9]).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B2 per the outline ("that, but running your subscriptions"; user quote carried in v11 slide 3). The v11 B2 card body was "Your machine. Your login. Your repo." — the headline here follows the outline's title for B2; body text is the v11 card's sentence, condensed.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5.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6.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ark.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THE SENTENCE</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01</a:t>
            </a:r>
          </a:p>
        </p:txBody>
      </p:sp>
      <p:sp>
        <p:nvSpPr>
          <p:cNvPr id="9" name="TextBox 8"/>
          <p:cNvSpPr txBox="1"/>
          <p:nvPr/>
        </p:nvSpPr>
        <p:spPr>
          <a:xfrm>
            <a:off x="621792" y="1234440"/>
            <a:ext cx="6949440" cy="1554480"/>
          </a:xfrm>
          <a:prstGeom prst="rect">
            <a:avLst/>
          </a:prstGeom>
          <a:noFill/>
        </p:spPr>
        <p:txBody>
          <a:bodyPr wrap="square" lIns="0" rIns="0" tIns="0" bIns="0" anchor="t">
            <a:spAutoFit/>
          </a:bodyPr>
          <a:lstStyle/>
          <a:p>
            <a:pPr algn="l">
              <a:lnSpc>
                <a:spcPct val="95000"/>
              </a:lnSpc>
            </a:pPr>
            <a:r>
              <a:rPr sz="3800" b="0" i="0">
                <a:solidFill>
                  <a:srgbClr val="F6F8FC"/>
                </a:solidFill>
                <a:latin typeface="Aptos"/>
              </a:rPr>
              <a:t>A resident — a seat, not a session.</a:t>
            </a:r>
          </a:p>
        </p:txBody>
      </p:sp>
      <p:sp>
        <p:nvSpPr>
          <p:cNvPr id="10" name="Rectangle 9"/>
          <p:cNvSpPr/>
          <p:nvPr/>
        </p:nvSpPr>
        <p:spPr>
          <a:xfrm>
            <a:off x="658368" y="2971800"/>
            <a:ext cx="219456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246120"/>
            <a:ext cx="6400800" cy="1645920"/>
          </a:xfrm>
          <a:prstGeom prst="rect">
            <a:avLst/>
          </a:prstGeom>
          <a:noFill/>
        </p:spPr>
        <p:txBody>
          <a:bodyPr wrap="square" lIns="0" rIns="0" tIns="0" bIns="0" anchor="t">
            <a:spAutoFit/>
          </a:bodyPr>
          <a:lstStyle/>
          <a:p>
            <a:pPr algn="l">
              <a:lnSpc>
                <a:spcPct val="108000"/>
              </a:lnSpc>
            </a:pPr>
            <a:r>
              <a:rPr sz="1900" b="0" i="0">
                <a:solidFill>
                  <a:srgbClr val="BEC6D2"/>
                </a:solidFill>
                <a:latin typeface="Aptos"/>
              </a:rPr>
              <a:t>An agent that lives on your machine. It survives reboots, remembers who it is, works both your Claude and your Codex subscriptions, and leaves receipts.</a:t>
            </a:r>
          </a:p>
        </p:txBody>
      </p:sp>
      <p:sp>
        <p:nvSpPr>
          <p:cNvPr id="12" name="TextBox 11"/>
          <p:cNvSpPr txBox="1"/>
          <p:nvPr/>
        </p:nvSpPr>
        <p:spPr>
          <a:xfrm>
            <a:off x="658368" y="5029200"/>
            <a:ext cx="5486400" cy="274320"/>
          </a:xfrm>
          <a:prstGeom prst="rect">
            <a:avLst/>
          </a:prstGeom>
          <a:noFill/>
        </p:spPr>
        <p:txBody>
          <a:bodyPr wrap="square" lIns="0" rIns="0" tIns="0" bIns="0" anchor="t">
            <a:spAutoFit/>
          </a:bodyPr>
          <a:lstStyle/>
          <a:p>
            <a:pPr algn="l"/>
            <a:r>
              <a:rPr sz="1400" b="1" i="0">
                <a:solidFill>
                  <a:srgbClr val="FFB739"/>
                </a:solidFill>
                <a:latin typeface="Aptos"/>
              </a:rPr>
              <a:t>brnrd · open source · HugiMuni SAS</a:t>
            </a:r>
          </a:p>
        </p:txBody>
      </p:sp>
      <p:pic>
        <p:nvPicPr>
          <p:cNvPr id="13" name="loop-3-stag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7635240" y="1097280"/>
            <a:ext cx="4114800" cy="2313432"/>
          </a:xfrm>
          <a:prstGeom prst="rect">
            <a:avLst/>
          </a:prstGeom>
        </p:spPr>
      </p:pic>
      <p:sp>
        <p:nvSpPr>
          <p:cNvPr id="14" name="TextBox 13"/>
          <p:cNvSpPr txBox="1"/>
          <p:nvPr/>
        </p:nvSpPr>
        <p:spPr>
          <a:xfrm>
            <a:off x="7635240" y="3566160"/>
            <a:ext cx="4114800" cy="274320"/>
          </a:xfrm>
          <a:prstGeom prst="rect">
            <a:avLst/>
          </a:prstGeom>
          <a:noFill/>
        </p:spPr>
        <p:txBody>
          <a:bodyPr wrap="square" lIns="0" rIns="0" tIns="0" bIns="0" anchor="t">
            <a:spAutoFit/>
          </a:bodyPr>
          <a:lstStyle/>
          <a:p>
            <a:pPr algn="l"/>
            <a:r>
              <a:rPr sz="1150" b="0" i="1">
                <a:solidFill>
                  <a:srgbClr val="C6E5FF"/>
                </a:solidFill>
                <a:latin typeface="Aptos"/>
              </a:rPr>
              <a:t>the seat's uptime, and a Telegram line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lu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THE PROOF · IT BUILT ITSELF</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02</a:t>
            </a:r>
          </a:p>
        </p:txBody>
      </p:sp>
      <p:sp>
        <p:nvSpPr>
          <p:cNvPr id="9" name="TextBox 8"/>
          <p:cNvSpPr txBox="1"/>
          <p:nvPr/>
        </p:nvSpPr>
        <p:spPr>
          <a:xfrm>
            <a:off x="621792" y="896112"/>
            <a:ext cx="10881360" cy="640080"/>
          </a:xfrm>
          <a:prstGeom prst="rect">
            <a:avLst/>
          </a:prstGeom>
          <a:noFill/>
        </p:spPr>
        <p:txBody>
          <a:bodyPr wrap="square" lIns="0" rIns="0" tIns="0" bIns="0" anchor="t">
            <a:spAutoFit/>
          </a:bodyPr>
          <a:lstStyle/>
          <a:p>
            <a:pPr algn="l">
              <a:lnSpc>
                <a:spcPct val="95000"/>
              </a:lnSpc>
            </a:pPr>
            <a:r>
              <a:rPr sz="3200" b="0" i="0">
                <a:solidFill>
                  <a:srgbClr val="F6F8FC"/>
                </a:solidFill>
                <a:latin typeface="Aptos"/>
              </a:rPr>
              <a:t>It built itself. The git log is public.</a:t>
            </a:r>
          </a:p>
        </p:txBody>
      </p:sp>
      <p:sp>
        <p:nvSpPr>
          <p:cNvPr id="10" name="TextBox 9"/>
          <p:cNvSpPr txBox="1"/>
          <p:nvPr/>
        </p:nvSpPr>
        <p:spPr>
          <a:xfrm>
            <a:off x="685800" y="1920240"/>
            <a:ext cx="3383280" cy="548640"/>
          </a:xfrm>
          <a:prstGeom prst="rect">
            <a:avLst/>
          </a:prstGeom>
          <a:noFill/>
        </p:spPr>
        <p:txBody>
          <a:bodyPr wrap="square" lIns="0" rIns="0" tIns="0" bIns="0" anchor="t">
            <a:spAutoFit/>
          </a:bodyPr>
          <a:lstStyle/>
          <a:p>
            <a:pPr algn="l"/>
            <a:r>
              <a:rPr sz="3200" b="1" i="0">
                <a:solidFill>
                  <a:srgbClr val="F6F8FC"/>
                </a:solidFill>
                <a:latin typeface="Aptos"/>
              </a:rPr>
              <a:t>6 months</a:t>
            </a:r>
          </a:p>
        </p:txBody>
      </p:sp>
      <p:sp>
        <p:nvSpPr>
          <p:cNvPr id="11" name="TextBox 10"/>
          <p:cNvSpPr txBox="1"/>
          <p:nvPr/>
        </p:nvSpPr>
        <p:spPr>
          <a:xfrm>
            <a:off x="685800" y="2487168"/>
            <a:ext cx="3383280" cy="548640"/>
          </a:xfrm>
          <a:prstGeom prst="rect">
            <a:avLst/>
          </a:prstGeom>
          <a:noFill/>
        </p:spPr>
        <p:txBody>
          <a:bodyPr wrap="square" lIns="0" rIns="0" tIns="0" bIns="0" anchor="t">
            <a:spAutoFit/>
          </a:bodyPr>
          <a:lstStyle/>
          <a:p>
            <a:pPr algn="l"/>
            <a:r>
              <a:rPr sz="1200" b="0" i="0">
                <a:solidFill>
                  <a:srgbClr val="BEC6D2"/>
                </a:solidFill>
                <a:latin typeface="Aptos"/>
              </a:rPr>
              <a:t>born 2026-03-28, 176 days</a:t>
            </a:r>
          </a:p>
        </p:txBody>
      </p:sp>
      <p:sp>
        <p:nvSpPr>
          <p:cNvPr id="12" name="Rectangle 11"/>
          <p:cNvSpPr/>
          <p:nvPr/>
        </p:nvSpPr>
        <p:spPr>
          <a:xfrm>
            <a:off x="685800" y="1847088"/>
            <a:ext cx="548640" cy="1828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920240"/>
            <a:ext cx="3383280" cy="548640"/>
          </a:xfrm>
          <a:prstGeom prst="rect">
            <a:avLst/>
          </a:prstGeom>
          <a:noFill/>
        </p:spPr>
        <p:txBody>
          <a:bodyPr wrap="square" lIns="0" rIns="0" tIns="0" bIns="0" anchor="t">
            <a:spAutoFit/>
          </a:bodyPr>
          <a:lstStyle/>
          <a:p>
            <a:pPr algn="l"/>
            <a:r>
              <a:rPr sz="3200" b="1" i="0">
                <a:solidFill>
                  <a:srgbClr val="F6F8FC"/>
                </a:solidFill>
                <a:latin typeface="Aptos"/>
              </a:rPr>
              <a:t>3,119 commits</a:t>
            </a:r>
          </a:p>
        </p:txBody>
      </p:sp>
      <p:sp>
        <p:nvSpPr>
          <p:cNvPr id="14" name="TextBox 13"/>
          <p:cNvSpPr txBox="1"/>
          <p:nvPr/>
        </p:nvSpPr>
        <p:spPr>
          <a:xfrm>
            <a:off x="4389120" y="2487168"/>
            <a:ext cx="3383280" cy="548640"/>
          </a:xfrm>
          <a:prstGeom prst="rect">
            <a:avLst/>
          </a:prstGeom>
          <a:noFill/>
        </p:spPr>
        <p:txBody>
          <a:bodyPr wrap="square" lIns="0" rIns="0" tIns="0" bIns="0" anchor="t">
            <a:spAutoFit/>
          </a:bodyPr>
          <a:lstStyle/>
          <a:p>
            <a:pPr algn="l"/>
            <a:r>
              <a:rPr sz="1200" b="0" i="0">
                <a:solidFill>
                  <a:srgbClr val="BEC6D2"/>
                </a:solidFill>
                <a:latin typeface="Aptos"/>
              </a:rPr>
              <a:t>on main</a:t>
            </a:r>
          </a:p>
        </p:txBody>
      </p:sp>
      <p:sp>
        <p:nvSpPr>
          <p:cNvPr id="15" name="Rectangle 14"/>
          <p:cNvSpPr/>
          <p:nvPr/>
        </p:nvSpPr>
        <p:spPr>
          <a:xfrm>
            <a:off x="4389120" y="1847088"/>
            <a:ext cx="548640" cy="1828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1920240"/>
            <a:ext cx="3383280" cy="548640"/>
          </a:xfrm>
          <a:prstGeom prst="rect">
            <a:avLst/>
          </a:prstGeom>
          <a:noFill/>
        </p:spPr>
        <p:txBody>
          <a:bodyPr wrap="square" lIns="0" rIns="0" tIns="0" bIns="0" anchor="t">
            <a:spAutoFit/>
          </a:bodyPr>
          <a:lstStyle/>
          <a:p>
            <a:pPr algn="l"/>
            <a:r>
              <a:rPr sz="3200" b="1" i="0">
                <a:solidFill>
                  <a:srgbClr val="F6F8FC"/>
                </a:solidFill>
                <a:latin typeface="Aptos"/>
              </a:rPr>
              <a:t>2,056 PRs</a:t>
            </a:r>
          </a:p>
        </p:txBody>
      </p:sp>
      <p:sp>
        <p:nvSpPr>
          <p:cNvPr id="17" name="TextBox 16"/>
          <p:cNvSpPr txBox="1"/>
          <p:nvPr/>
        </p:nvSpPr>
        <p:spPr>
          <a:xfrm>
            <a:off x="8092440" y="2487168"/>
            <a:ext cx="3383280" cy="548640"/>
          </a:xfrm>
          <a:prstGeom prst="rect">
            <a:avLst/>
          </a:prstGeom>
          <a:noFill/>
        </p:spPr>
        <p:txBody>
          <a:bodyPr wrap="square" lIns="0" rIns="0" tIns="0" bIns="0" anchor="t">
            <a:spAutoFit/>
          </a:bodyPr>
          <a:lstStyle/>
          <a:p>
            <a:pPr algn="l"/>
            <a:r>
              <a:rPr sz="1200" b="0" i="0">
                <a:solidFill>
                  <a:srgbClr val="BEC6D2"/>
                </a:solidFill>
                <a:latin typeface="Aptos"/>
              </a:rPr>
              <a:t>numbered; the last two merged today</a:t>
            </a:r>
          </a:p>
        </p:txBody>
      </p:sp>
      <p:sp>
        <p:nvSpPr>
          <p:cNvPr id="18" name="Rectangle 17"/>
          <p:cNvSpPr/>
          <p:nvPr/>
        </p:nvSpPr>
        <p:spPr>
          <a:xfrm>
            <a:off x="8092440" y="1847088"/>
            <a:ext cx="548640" cy="1828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520440"/>
            <a:ext cx="3383280" cy="548640"/>
          </a:xfrm>
          <a:prstGeom prst="rect">
            <a:avLst/>
          </a:prstGeom>
          <a:noFill/>
        </p:spPr>
        <p:txBody>
          <a:bodyPr wrap="square" lIns="0" rIns="0" tIns="0" bIns="0" anchor="t">
            <a:spAutoFit/>
          </a:bodyPr>
          <a:lstStyle/>
          <a:p>
            <a:pPr algn="l"/>
            <a:r>
              <a:rPr sz="3200" b="1" i="0">
                <a:solidFill>
                  <a:srgbClr val="FFB739"/>
                </a:solidFill>
                <a:latin typeface="Aptos"/>
              </a:rPr>
              <a:t>1,402 commits</a:t>
            </a:r>
          </a:p>
        </p:txBody>
      </p:sp>
      <p:sp>
        <p:nvSpPr>
          <p:cNvPr id="20" name="TextBox 19"/>
          <p:cNvSpPr txBox="1"/>
          <p:nvPr/>
        </p:nvSpPr>
        <p:spPr>
          <a:xfrm>
            <a:off x="685800" y="4087368"/>
            <a:ext cx="3383280" cy="548640"/>
          </a:xfrm>
          <a:prstGeom prst="rect">
            <a:avLst/>
          </a:prstGeom>
          <a:noFill/>
        </p:spPr>
        <p:txBody>
          <a:bodyPr wrap="square" lIns="0" rIns="0" tIns="0" bIns="0" anchor="t">
            <a:spAutoFit/>
          </a:bodyPr>
          <a:lstStyle/>
          <a:p>
            <a:pPr algn="l"/>
            <a:r>
              <a:rPr sz="1200" b="0" i="0">
                <a:solidFill>
                  <a:srgbClr val="BEC6D2"/>
                </a:solidFill>
                <a:latin typeface="Aptos"/>
              </a:rPr>
              <a:t>by the resident — 45 % of main</a:t>
            </a:r>
          </a:p>
        </p:txBody>
      </p:sp>
      <p:sp>
        <p:nvSpPr>
          <p:cNvPr id="21" name="Rectangle 20"/>
          <p:cNvSpPr/>
          <p:nvPr/>
        </p:nvSpPr>
        <p:spPr>
          <a:xfrm>
            <a:off x="685800" y="3447288"/>
            <a:ext cx="548640" cy="1828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3520440"/>
            <a:ext cx="3383280" cy="548640"/>
          </a:xfrm>
          <a:prstGeom prst="rect">
            <a:avLst/>
          </a:prstGeom>
          <a:noFill/>
        </p:spPr>
        <p:txBody>
          <a:bodyPr wrap="square" lIns="0" rIns="0" tIns="0" bIns="0" anchor="t">
            <a:spAutoFit/>
          </a:bodyPr>
          <a:lstStyle/>
          <a:p>
            <a:pPr algn="l"/>
            <a:r>
              <a:rPr sz="3200" b="1" i="0">
                <a:solidFill>
                  <a:srgbClr val="F6F8FC"/>
                </a:solidFill>
                <a:latin typeface="Aptos"/>
              </a:rPr>
              <a:t>7,172 tests</a:t>
            </a:r>
          </a:p>
        </p:txBody>
      </p:sp>
      <p:sp>
        <p:nvSpPr>
          <p:cNvPr id="23" name="TextBox 22"/>
          <p:cNvSpPr txBox="1"/>
          <p:nvPr/>
        </p:nvSpPr>
        <p:spPr>
          <a:xfrm>
            <a:off x="4389120" y="4087368"/>
            <a:ext cx="3383280" cy="548640"/>
          </a:xfrm>
          <a:prstGeom prst="rect">
            <a:avLst/>
          </a:prstGeom>
          <a:noFill/>
        </p:spPr>
        <p:txBody>
          <a:bodyPr wrap="square" lIns="0" rIns="0" tIns="0" bIns="0" anchor="t">
            <a:spAutoFit/>
          </a:bodyPr>
          <a:lstStyle/>
          <a:p>
            <a:pPr algn="l"/>
            <a:r>
              <a:rPr sz="1200" b="0" i="0">
                <a:solidFill>
                  <a:srgbClr val="BEC6D2"/>
                </a:solidFill>
                <a:latin typeface="Aptos"/>
              </a:rPr>
              <a:t>CI green on main</a:t>
            </a:r>
          </a:p>
        </p:txBody>
      </p:sp>
      <p:sp>
        <p:nvSpPr>
          <p:cNvPr id="24" name="Rectangle 23"/>
          <p:cNvSpPr/>
          <p:nvPr/>
        </p:nvSpPr>
        <p:spPr>
          <a:xfrm>
            <a:off x="4389120" y="3447288"/>
            <a:ext cx="548640" cy="1828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3520440"/>
            <a:ext cx="3383280" cy="548640"/>
          </a:xfrm>
          <a:prstGeom prst="rect">
            <a:avLst/>
          </a:prstGeom>
          <a:noFill/>
        </p:spPr>
        <p:txBody>
          <a:bodyPr wrap="square" lIns="0" rIns="0" tIns="0" bIns="0" anchor="t">
            <a:spAutoFit/>
          </a:bodyPr>
          <a:lstStyle/>
          <a:p>
            <a:pPr algn="l"/>
            <a:r>
              <a:rPr sz="3200" b="1" i="0">
                <a:solidFill>
                  <a:srgbClr val="F6F8FC"/>
                </a:solidFill>
                <a:latin typeface="Aptos"/>
              </a:rPr>
              <a:t>70 h · 27 PRs</a:t>
            </a:r>
          </a:p>
        </p:txBody>
      </p:sp>
      <p:sp>
        <p:nvSpPr>
          <p:cNvPr id="26" name="TextBox 25"/>
          <p:cNvSpPr txBox="1"/>
          <p:nvPr/>
        </p:nvSpPr>
        <p:spPr>
          <a:xfrm>
            <a:off x="8092440" y="4087368"/>
            <a:ext cx="3383280" cy="548640"/>
          </a:xfrm>
          <a:prstGeom prst="rect">
            <a:avLst/>
          </a:prstGeom>
          <a:noFill/>
        </p:spPr>
        <p:txBody>
          <a:bodyPr wrap="square" lIns="0" rIns="0" tIns="0" bIns="0" anchor="t">
            <a:spAutoFit/>
          </a:bodyPr>
          <a:lstStyle/>
          <a:p>
            <a:pPr algn="l"/>
            <a:r>
              <a:rPr sz="1200" b="0" i="0">
                <a:solidFill>
                  <a:srgbClr val="BEC6D2"/>
                </a:solidFill>
                <a:latin typeface="Aptos"/>
              </a:rPr>
              <a:t>one seat, one context, 31 strands</a:t>
            </a:r>
          </a:p>
        </p:txBody>
      </p:sp>
      <p:sp>
        <p:nvSpPr>
          <p:cNvPr id="27" name="Rectangle 26"/>
          <p:cNvSpPr/>
          <p:nvPr/>
        </p:nvSpPr>
        <p:spPr>
          <a:xfrm>
            <a:off x="8092440" y="3447288"/>
            <a:ext cx="548640" cy="1828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257800"/>
            <a:ext cx="10515600" cy="457200"/>
          </a:xfrm>
          <a:prstGeom prst="rect">
            <a:avLst/>
          </a:prstGeom>
          <a:noFill/>
        </p:spPr>
        <p:txBody>
          <a:bodyPr wrap="square" lIns="0" rIns="0" tIns="0" bIns="0" anchor="t">
            <a:spAutoFit/>
          </a:bodyPr>
          <a:lstStyle/>
          <a:p>
            <a:pPr algn="l"/>
            <a:r>
              <a:rPr sz="2000" b="0" i="1">
                <a:solidFill>
                  <a:srgbClr val="FFB739"/>
                </a:solidFill>
                <a:latin typeface="Aptos"/>
              </a:rPr>
              <a:t>No competitor can put this slide 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wid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WHY NOW</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03</a:t>
            </a:r>
          </a:p>
        </p:txBody>
      </p:sp>
      <p:sp>
        <p:nvSpPr>
          <p:cNvPr id="9" name="TextBox 8"/>
          <p:cNvSpPr txBox="1"/>
          <p:nvPr/>
        </p:nvSpPr>
        <p:spPr>
          <a:xfrm>
            <a:off x="621792" y="896112"/>
            <a:ext cx="10607040" cy="914400"/>
          </a:xfrm>
          <a:prstGeom prst="rect">
            <a:avLst/>
          </a:prstGeom>
          <a:noFill/>
        </p:spPr>
        <p:txBody>
          <a:bodyPr wrap="square" lIns="0" rIns="0" tIns="0" bIns="0" anchor="t">
            <a:spAutoFit/>
          </a:bodyPr>
          <a:lstStyle/>
          <a:p>
            <a:pPr algn="l">
              <a:lnSpc>
                <a:spcPct val="95000"/>
              </a:lnSpc>
            </a:pPr>
            <a:r>
              <a:rPr sz="2700" b="0" i="0">
                <a:solidFill>
                  <a:srgbClr val="F6F8FC"/>
                </a:solidFill>
                <a:latin typeface="Aptos"/>
              </a:rPr>
              <a:t>Both platforms shipped "runs while you're away". Their docs say where it stops.</a:t>
            </a:r>
          </a:p>
        </p:txBody>
      </p:sp>
      <p:sp>
        <p:nvSpPr>
          <p:cNvPr id="10" name="TextBox 9"/>
          <p:cNvSpPr txBox="1"/>
          <p:nvPr/>
        </p:nvSpPr>
        <p:spPr>
          <a:xfrm>
            <a:off x="685800" y="1874519"/>
            <a:ext cx="4572000" cy="274320"/>
          </a:xfrm>
          <a:prstGeom prst="rect">
            <a:avLst/>
          </a:prstGeom>
          <a:noFill/>
        </p:spPr>
        <p:txBody>
          <a:bodyPr wrap="square" lIns="0" rIns="0" tIns="0" bIns="0" anchor="t">
            <a:spAutoFit/>
          </a:bodyPr>
          <a:lstStyle/>
          <a:p>
            <a:pPr algn="l"/>
            <a:r>
              <a:rPr sz="1200" b="1" i="0">
                <a:solidFill>
                  <a:srgbClr val="C6E5FF"/>
                </a:solidFill>
                <a:latin typeface="Aptos"/>
              </a:rPr>
              <a:t>Their own docs</a:t>
            </a:r>
          </a:p>
        </p:txBody>
      </p:sp>
      <p:sp>
        <p:nvSpPr>
          <p:cNvPr id="11" name="Rectangle 10"/>
          <p:cNvSpPr/>
          <p:nvPr/>
        </p:nvSpPr>
        <p:spPr>
          <a:xfrm>
            <a:off x="685800" y="2286000"/>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67712"/>
            <a:ext cx="5120640" cy="329184"/>
          </a:xfrm>
          <a:prstGeom prst="rect">
            <a:avLst/>
          </a:prstGeom>
          <a:noFill/>
        </p:spPr>
        <p:txBody>
          <a:bodyPr wrap="square" lIns="0" rIns="0" tIns="0" bIns="0" anchor="t">
            <a:spAutoFit/>
          </a:bodyPr>
          <a:lstStyle/>
          <a:p>
            <a:pPr algn="l"/>
            <a:r>
              <a:rPr sz="1450" b="1" i="0">
                <a:solidFill>
                  <a:srgbClr val="F6F8FC"/>
                </a:solidFill>
                <a:latin typeface="Aptos"/>
              </a:rPr>
              <a:t>does not survive shutdown</a:t>
            </a:r>
          </a:p>
        </p:txBody>
      </p:sp>
      <p:sp>
        <p:nvSpPr>
          <p:cNvPr id="13" name="TextBox 12"/>
          <p:cNvSpPr txBox="1"/>
          <p:nvPr/>
        </p:nvSpPr>
        <p:spPr>
          <a:xfrm>
            <a:off x="886968" y="2560320"/>
            <a:ext cx="5120640" cy="457200"/>
          </a:xfrm>
          <a:prstGeom prst="rect">
            <a:avLst/>
          </a:prstGeom>
          <a:noFill/>
        </p:spPr>
        <p:txBody>
          <a:bodyPr wrap="square" lIns="0" rIns="0" tIns="0" bIns="0" anchor="t">
            <a:spAutoFit/>
          </a:bodyPr>
          <a:lstStyle/>
          <a:p>
            <a:pPr algn="l"/>
            <a:r>
              <a:rPr sz="1150" b="0" i="0">
                <a:solidFill>
                  <a:srgbClr val="BEC6D2"/>
                </a:solidFill>
                <a:latin typeface="Aptos"/>
              </a:rPr>
              <a:t>Claude Code background agents, their own docs</a:t>
            </a:r>
          </a:p>
        </p:txBody>
      </p:sp>
      <p:sp>
        <p:nvSpPr>
          <p:cNvPr id="14" name="Rectangle 13"/>
          <p:cNvSpPr/>
          <p:nvPr/>
        </p:nvSpPr>
        <p:spPr>
          <a:xfrm>
            <a:off x="685800" y="3154680"/>
            <a:ext cx="41148" cy="56692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136392"/>
            <a:ext cx="5120640" cy="329184"/>
          </a:xfrm>
          <a:prstGeom prst="rect">
            <a:avLst/>
          </a:prstGeom>
          <a:noFill/>
        </p:spPr>
        <p:txBody>
          <a:bodyPr wrap="square" lIns="0" rIns="0" tIns="0" bIns="0" anchor="t">
            <a:spAutoFit/>
          </a:bodyPr>
          <a:lstStyle/>
          <a:p>
            <a:pPr algn="l"/>
            <a:r>
              <a:rPr sz="1450" b="1" i="0">
                <a:solidFill>
                  <a:srgbClr val="F6F8FC"/>
                </a:solidFill>
                <a:latin typeface="Aptos"/>
              </a:rPr>
              <a:t>routines start amnesiac</a:t>
            </a:r>
          </a:p>
        </p:txBody>
      </p:sp>
      <p:sp>
        <p:nvSpPr>
          <p:cNvPr id="16" name="TextBox 15"/>
          <p:cNvSpPr txBox="1"/>
          <p:nvPr/>
        </p:nvSpPr>
        <p:spPr>
          <a:xfrm>
            <a:off x="886968" y="3429000"/>
            <a:ext cx="5120640" cy="457200"/>
          </a:xfrm>
          <a:prstGeom prst="rect">
            <a:avLst/>
          </a:prstGeom>
          <a:noFill/>
        </p:spPr>
        <p:txBody>
          <a:bodyPr wrap="square" lIns="0" rIns="0" tIns="0" bIns="0" anchor="t">
            <a:spAutoFit/>
          </a:bodyPr>
          <a:lstStyle/>
          <a:p>
            <a:pPr algn="l"/>
            <a:r>
              <a:rPr sz="1150" b="0" i="0">
                <a:solidFill>
                  <a:srgbClr val="BEC6D2"/>
                </a:solidFill>
                <a:latin typeface="Aptos"/>
              </a:rPr>
              <a:t>every run, a fresh clone</a:t>
            </a:r>
          </a:p>
        </p:txBody>
      </p:sp>
      <p:sp>
        <p:nvSpPr>
          <p:cNvPr id="17" name="Rectangle 16"/>
          <p:cNvSpPr/>
          <p:nvPr/>
        </p:nvSpPr>
        <p:spPr>
          <a:xfrm>
            <a:off x="685800" y="4023360"/>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4005072"/>
            <a:ext cx="5120640" cy="329184"/>
          </a:xfrm>
          <a:prstGeom prst="rect">
            <a:avLst/>
          </a:prstGeom>
          <a:noFill/>
        </p:spPr>
        <p:txBody>
          <a:bodyPr wrap="square" lIns="0" rIns="0" tIns="0" bIns="0" anchor="t">
            <a:spAutoFit/>
          </a:bodyPr>
          <a:lstStyle/>
          <a:p>
            <a:pPr algn="l"/>
            <a:r>
              <a:rPr sz="1450" b="1" i="0">
                <a:solidFill>
                  <a:srgbClr val="F6F8FC"/>
                </a:solidFill>
                <a:latin typeface="Aptos"/>
              </a:rPr>
              <a:t>channels need "a persistent terminal"</a:t>
            </a:r>
          </a:p>
        </p:txBody>
      </p:sp>
      <p:sp>
        <p:nvSpPr>
          <p:cNvPr id="19" name="TextBox 18"/>
          <p:cNvSpPr txBox="1"/>
          <p:nvPr/>
        </p:nvSpPr>
        <p:spPr>
          <a:xfrm>
            <a:off x="886968" y="4297680"/>
            <a:ext cx="5120640" cy="457200"/>
          </a:xfrm>
          <a:prstGeom prst="rect">
            <a:avLst/>
          </a:prstGeom>
          <a:noFill/>
        </p:spPr>
        <p:txBody>
          <a:bodyPr wrap="square" lIns="0" rIns="0" tIns="0" bIns="0" anchor="t">
            <a:spAutoFit/>
          </a:bodyPr>
          <a:lstStyle/>
          <a:p>
            <a:pPr algn="l"/>
            <a:r>
              <a:rPr sz="1150" b="0" i="0">
                <a:solidFill>
                  <a:srgbClr val="BEC6D2"/>
                </a:solidFill>
                <a:latin typeface="Aptos"/>
              </a:rPr>
              <a:t>bring your own daemon</a:t>
            </a:r>
          </a:p>
        </p:txBody>
      </p:sp>
      <p:sp>
        <p:nvSpPr>
          <p:cNvPr id="20" name="Rectangle 19"/>
          <p:cNvSpPr/>
          <p:nvPr/>
        </p:nvSpPr>
        <p:spPr>
          <a:xfrm>
            <a:off x="685800" y="4892040"/>
            <a:ext cx="41148" cy="56692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4873752"/>
            <a:ext cx="5120640" cy="329184"/>
          </a:xfrm>
          <a:prstGeom prst="rect">
            <a:avLst/>
          </a:prstGeom>
          <a:noFill/>
        </p:spPr>
        <p:txBody>
          <a:bodyPr wrap="square" lIns="0" rIns="0" tIns="0" bIns="0" anchor="t">
            <a:spAutoFit/>
          </a:bodyPr>
          <a:lstStyle/>
          <a:p>
            <a:pPr algn="l"/>
            <a:r>
              <a:rPr sz="1450" b="1" i="0">
                <a:solidFill>
                  <a:srgbClr val="F6F8FC"/>
                </a:solidFill>
                <a:latin typeface="Aptos"/>
              </a:rPr>
              <a:t>remote control transcripts sit on the vendor's servers</a:t>
            </a:r>
          </a:p>
        </p:txBody>
      </p:sp>
      <p:sp>
        <p:nvSpPr>
          <p:cNvPr id="22" name="TextBox 21"/>
          <p:cNvSpPr txBox="1"/>
          <p:nvPr/>
        </p:nvSpPr>
        <p:spPr>
          <a:xfrm>
            <a:off x="886968" y="5166360"/>
            <a:ext cx="5120640" cy="457200"/>
          </a:xfrm>
          <a:prstGeom prst="rect">
            <a:avLst/>
          </a:prstGeom>
          <a:noFill/>
        </p:spPr>
        <p:txBody>
          <a:bodyPr wrap="square" lIns="0" rIns="0" tIns="0" bIns="0" anchor="t">
            <a:spAutoFit/>
          </a:bodyPr>
          <a:lstStyle/>
          <a:p>
            <a:pPr algn="l"/>
            <a:r>
              <a:rPr sz="1150" b="0" i="0">
                <a:solidFill>
                  <a:srgbClr val="BEC6D2"/>
                </a:solidFill>
                <a:latin typeface="Aptos"/>
              </a:rPr>
              <a:t>and refuse API keys and gateways</a:t>
            </a:r>
          </a:p>
        </p:txBody>
      </p:sp>
      <p:sp>
        <p:nvSpPr>
          <p:cNvPr id="23" name="TextBox 22"/>
          <p:cNvSpPr txBox="1"/>
          <p:nvPr/>
        </p:nvSpPr>
        <p:spPr>
          <a:xfrm>
            <a:off x="6400800" y="1874519"/>
            <a:ext cx="4572000" cy="274320"/>
          </a:xfrm>
          <a:prstGeom prst="rect">
            <a:avLst/>
          </a:prstGeom>
          <a:noFill/>
        </p:spPr>
        <p:txBody>
          <a:bodyPr wrap="square" lIns="0" rIns="0" tIns="0" bIns="0" anchor="t">
            <a:spAutoFit/>
          </a:bodyPr>
          <a:lstStyle/>
          <a:p>
            <a:pPr algn="l"/>
            <a:r>
              <a:rPr sz="1200" b="1" i="0">
                <a:solidFill>
                  <a:srgbClr val="C6E5FF"/>
                </a:solidFill>
                <a:latin typeface="Aptos"/>
              </a:rPr>
              <a:t>Their own trackers</a:t>
            </a:r>
          </a:p>
        </p:txBody>
      </p:sp>
      <p:sp>
        <p:nvSpPr>
          <p:cNvPr id="24" name="TextBox 23"/>
          <p:cNvSpPr txBox="1"/>
          <p:nvPr/>
        </p:nvSpPr>
        <p:spPr>
          <a:xfrm>
            <a:off x="6400800" y="2286000"/>
            <a:ext cx="5120640" cy="548640"/>
          </a:xfrm>
          <a:prstGeom prst="rect">
            <a:avLst/>
          </a:prstGeom>
          <a:noFill/>
        </p:spPr>
        <p:txBody>
          <a:bodyPr wrap="square" lIns="0" rIns="0" tIns="0" bIns="0" anchor="t">
            <a:spAutoFit/>
          </a:bodyPr>
          <a:lstStyle/>
          <a:p>
            <a:pPr algn="l"/>
            <a:r>
              <a:rPr sz="2600" b="1" i="0">
                <a:solidFill>
                  <a:srgbClr val="FFB739"/>
                </a:solidFill>
                <a:latin typeface="Aptos"/>
              </a:rPr>
              <a:t>835</a:t>
            </a:r>
          </a:p>
        </p:txBody>
      </p:sp>
      <p:sp>
        <p:nvSpPr>
          <p:cNvPr id="25" name="TextBox 24"/>
          <p:cNvSpPr txBox="1"/>
          <p:nvPr/>
        </p:nvSpPr>
        <p:spPr>
          <a:xfrm>
            <a:off x="6400800" y="2852928"/>
            <a:ext cx="5120640" cy="548640"/>
          </a:xfrm>
          <a:prstGeom prst="rect">
            <a:avLst/>
          </a:prstGeom>
          <a:noFill/>
        </p:spPr>
        <p:txBody>
          <a:bodyPr wrap="square" lIns="0" rIns="0" tIns="0" bIns="0" anchor="t">
            <a:spAutoFit/>
          </a:bodyPr>
          <a:lstStyle/>
          <a:p>
            <a:pPr algn="l"/>
            <a:r>
              <a:rPr sz="1200" b="0" i="0">
                <a:solidFill>
                  <a:srgbClr val="BEC6D2"/>
                </a:solidFill>
                <a:latin typeface="Aptos"/>
              </a:rPr>
              <a:t>"background restart" threads on claude-code</a:t>
            </a:r>
          </a:p>
        </p:txBody>
      </p:sp>
      <p:sp>
        <p:nvSpPr>
          <p:cNvPr id="26" name="TextBox 25"/>
          <p:cNvSpPr txBox="1"/>
          <p:nvPr/>
        </p:nvSpPr>
        <p:spPr>
          <a:xfrm>
            <a:off x="6400800" y="3310128"/>
            <a:ext cx="5120640" cy="548640"/>
          </a:xfrm>
          <a:prstGeom prst="rect">
            <a:avLst/>
          </a:prstGeom>
          <a:noFill/>
        </p:spPr>
        <p:txBody>
          <a:bodyPr wrap="square" lIns="0" rIns="0" tIns="0" bIns="0" anchor="t">
            <a:spAutoFit/>
          </a:bodyPr>
          <a:lstStyle/>
          <a:p>
            <a:pPr algn="l"/>
            <a:r>
              <a:rPr sz="2600" b="1" i="0">
                <a:solidFill>
                  <a:srgbClr val="FFB739"/>
                </a:solidFill>
                <a:latin typeface="Aptos"/>
              </a:rPr>
              <a:t>512</a:t>
            </a:r>
          </a:p>
        </p:txBody>
      </p:sp>
      <p:sp>
        <p:nvSpPr>
          <p:cNvPr id="27" name="TextBox 26"/>
          <p:cNvSpPr txBox="1"/>
          <p:nvPr/>
        </p:nvSpPr>
        <p:spPr>
          <a:xfrm>
            <a:off x="6400800" y="3877056"/>
            <a:ext cx="5120640" cy="548640"/>
          </a:xfrm>
          <a:prstGeom prst="rect">
            <a:avLst/>
          </a:prstGeom>
          <a:noFill/>
        </p:spPr>
        <p:txBody>
          <a:bodyPr wrap="square" lIns="0" rIns="0" tIns="0" bIns="0" anchor="t">
            <a:spAutoFit/>
          </a:bodyPr>
          <a:lstStyle/>
          <a:p>
            <a:pPr algn="l"/>
            <a:r>
              <a:rPr sz="1200" b="0" i="0">
                <a:solidFill>
                  <a:srgbClr val="BEC6D2"/>
                </a:solidFill>
                <a:latin typeface="Aptos"/>
              </a:rPr>
              <a:t>"persistent memory sessions" threads</a:t>
            </a:r>
          </a:p>
        </p:txBody>
      </p:sp>
      <p:sp>
        <p:nvSpPr>
          <p:cNvPr id="28" name="TextBox 27"/>
          <p:cNvSpPr txBox="1"/>
          <p:nvPr/>
        </p:nvSpPr>
        <p:spPr>
          <a:xfrm>
            <a:off x="6400800" y="4334256"/>
            <a:ext cx="5120640" cy="548640"/>
          </a:xfrm>
          <a:prstGeom prst="rect">
            <a:avLst/>
          </a:prstGeom>
          <a:noFill/>
        </p:spPr>
        <p:txBody>
          <a:bodyPr wrap="square" lIns="0" rIns="0" tIns="0" bIns="0" anchor="t">
            <a:spAutoFit/>
          </a:bodyPr>
          <a:lstStyle/>
          <a:p>
            <a:pPr algn="l"/>
            <a:r>
              <a:rPr sz="2600" b="1" i="0">
                <a:solidFill>
                  <a:srgbClr val="FFB739"/>
                </a:solidFill>
                <a:latin typeface="Aptos"/>
              </a:rPr>
              <a:t>411 👍</a:t>
            </a:r>
          </a:p>
        </p:txBody>
      </p:sp>
      <p:sp>
        <p:nvSpPr>
          <p:cNvPr id="29" name="TextBox 28"/>
          <p:cNvSpPr txBox="1"/>
          <p:nvPr/>
        </p:nvSpPr>
        <p:spPr>
          <a:xfrm>
            <a:off x="6400800" y="4901184"/>
            <a:ext cx="5120640" cy="548640"/>
          </a:xfrm>
          <a:prstGeom prst="rect">
            <a:avLst/>
          </a:prstGeom>
          <a:noFill/>
        </p:spPr>
        <p:txBody>
          <a:bodyPr wrap="square" lIns="0" rIns="0" tIns="0" bIns="0" anchor="t">
            <a:spAutoFit/>
          </a:bodyPr>
          <a:lstStyle/>
          <a:p>
            <a:pPr algn="l"/>
            <a:r>
              <a:rPr sz="1200" b="0" i="0">
                <a:solidFill>
                  <a:srgbClr val="BEC6D2"/>
                </a:solidFill>
                <a:latin typeface="Aptos"/>
              </a:rPr>
              <a:t>the most-reacted Codex request: control my desktop CLI from my phone</a:t>
            </a:r>
          </a:p>
        </p:txBody>
      </p:sp>
      <p:sp>
        <p:nvSpPr>
          <p:cNvPr id="30" name="TextBox 29"/>
          <p:cNvSpPr txBox="1"/>
          <p:nvPr/>
        </p:nvSpPr>
        <p:spPr>
          <a:xfrm>
            <a:off x="685800" y="5669280"/>
            <a:ext cx="7315200" cy="365760"/>
          </a:xfrm>
          <a:prstGeom prst="rect">
            <a:avLst/>
          </a:prstGeom>
          <a:noFill/>
        </p:spPr>
        <p:txBody>
          <a:bodyPr wrap="square" lIns="0" rIns="0" tIns="0" bIns="0" anchor="t">
            <a:spAutoFit/>
          </a:bodyPr>
          <a:lstStyle/>
          <a:p>
            <a:pPr algn="l"/>
            <a:r>
              <a:rPr sz="1700" b="0" i="1">
                <a:solidFill>
                  <a:srgbClr val="FFB739"/>
                </a:solidFill>
                <a:latin typeface="Aptos"/>
              </a:rPr>
              <a:t>The vendors prove the category. They stay a session.</a:t>
            </a:r>
          </a:p>
        </p:txBody>
      </p:sp>
      <p:sp>
        <p:nvSpPr>
          <p:cNvPr id="31" name="TextBox 30"/>
          <p:cNvSpPr txBox="1"/>
          <p:nvPr/>
        </p:nvSpPr>
        <p:spPr>
          <a:xfrm>
            <a:off x="7863840" y="5760720"/>
            <a:ext cx="3657600" cy="274320"/>
          </a:xfrm>
          <a:prstGeom prst="rect">
            <a:avLst/>
          </a:prstGeom>
          <a:noFill/>
        </p:spPr>
        <p:txBody>
          <a:bodyPr wrap="square" lIns="0" rIns="0" tIns="0" bIns="0" anchor="t">
            <a:spAutoFit/>
          </a:bodyPr>
          <a:lstStyle/>
          <a:p>
            <a:pPr algn="r"/>
            <a:r>
              <a:rPr sz="1200" b="0" i="0">
                <a:solidFill>
                  <a:srgbClr val="BEC6D2"/>
                </a:solidFill>
                <a:latin typeface="Aptos"/>
              </a:rPr>
              <a:t>1M weekly Claude Code users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ark.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THE WEDGE · WHAT THEIR DOCS CONCEDE</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04</a:t>
            </a:r>
          </a:p>
        </p:txBody>
      </p:sp>
      <p:sp>
        <p:nvSpPr>
          <p:cNvPr id="9" name="TextBox 8"/>
          <p:cNvSpPr txBox="1"/>
          <p:nvPr/>
        </p:nvSpPr>
        <p:spPr>
          <a:xfrm>
            <a:off x="621792" y="896112"/>
            <a:ext cx="6400800" cy="640080"/>
          </a:xfrm>
          <a:prstGeom prst="rect">
            <a:avLst/>
          </a:prstGeom>
          <a:noFill/>
        </p:spPr>
        <p:txBody>
          <a:bodyPr wrap="square" lIns="0" rIns="0" tIns="0" bIns="0" anchor="t">
            <a:spAutoFit/>
          </a:bodyPr>
          <a:lstStyle/>
          <a:p>
            <a:pPr algn="l">
              <a:lnSpc>
                <a:spcPct val="95000"/>
              </a:lnSpc>
            </a:pPr>
            <a:r>
              <a:rPr sz="3000" b="0" i="0">
                <a:solidFill>
                  <a:srgbClr val="F6F8FC"/>
                </a:solidFill>
                <a:latin typeface="Aptos"/>
              </a:rPr>
              <a:t>Five things the native platform does not do.</a:t>
            </a:r>
          </a:p>
        </p:txBody>
      </p:sp>
      <p:sp>
        <p:nvSpPr>
          <p:cNvPr id="10" name="Rectangle 9"/>
          <p:cNvSpPr/>
          <p:nvPr/>
        </p:nvSpPr>
        <p:spPr>
          <a:xfrm>
            <a:off x="685800" y="1783080"/>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764792"/>
            <a:ext cx="6400800" cy="329184"/>
          </a:xfrm>
          <a:prstGeom prst="rect">
            <a:avLst/>
          </a:prstGeom>
          <a:noFill/>
        </p:spPr>
        <p:txBody>
          <a:bodyPr wrap="square" lIns="0" rIns="0" tIns="0" bIns="0" anchor="t">
            <a:spAutoFit/>
          </a:bodyPr>
          <a:lstStyle/>
          <a:p>
            <a:pPr algn="l"/>
            <a:r>
              <a:rPr sz="1550" b="1" i="0">
                <a:solidFill>
                  <a:srgbClr val="F6F8FC"/>
                </a:solidFill>
                <a:latin typeface="Aptos"/>
              </a:rPr>
              <a:t>Survives the reboot and owns the seat.</a:t>
            </a:r>
          </a:p>
        </p:txBody>
      </p:sp>
      <p:sp>
        <p:nvSpPr>
          <p:cNvPr id="12" name="TextBox 11"/>
          <p:cNvSpPr txBox="1"/>
          <p:nvPr/>
        </p:nvSpPr>
        <p:spPr>
          <a:xfrm>
            <a:off x="886968" y="2057400"/>
            <a:ext cx="6400800" cy="457200"/>
          </a:xfrm>
          <a:prstGeom prst="rect">
            <a:avLst/>
          </a:prstGeom>
          <a:noFill/>
        </p:spPr>
        <p:txBody>
          <a:bodyPr wrap="square" lIns="0" rIns="0" tIns="0" bIns="0" anchor="t">
            <a:spAutoFit/>
          </a:bodyPr>
          <a:lstStyle/>
          <a:p>
            <a:pPr algn="l"/>
            <a:r>
              <a:rPr sz="1250" b="0" i="0">
                <a:solidFill>
                  <a:srgbClr val="BEC6D2"/>
                </a:solidFill>
                <a:latin typeface="Aptos"/>
              </a:rPr>
              <a:t>brnrd is the process the vendors' docs ask you to bring.</a:t>
            </a:r>
          </a:p>
        </p:txBody>
      </p:sp>
      <p:sp>
        <p:nvSpPr>
          <p:cNvPr id="13" name="Rectangle 12"/>
          <p:cNvSpPr/>
          <p:nvPr/>
        </p:nvSpPr>
        <p:spPr>
          <a:xfrm>
            <a:off x="685800" y="2679191"/>
            <a:ext cx="41148" cy="56692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660903"/>
            <a:ext cx="6400800" cy="329184"/>
          </a:xfrm>
          <a:prstGeom prst="rect">
            <a:avLst/>
          </a:prstGeom>
          <a:noFill/>
        </p:spPr>
        <p:txBody>
          <a:bodyPr wrap="square" lIns="0" rIns="0" tIns="0" bIns="0" anchor="t">
            <a:spAutoFit/>
          </a:bodyPr>
          <a:lstStyle/>
          <a:p>
            <a:pPr algn="l"/>
            <a:r>
              <a:rPr sz="1550" b="1" i="0">
                <a:solidFill>
                  <a:srgbClr val="F6F8FC"/>
                </a:solidFill>
                <a:latin typeface="Aptos"/>
              </a:rPr>
              <a:t>Both subscriptions, one seat, one gauge.</a:t>
            </a:r>
          </a:p>
        </p:txBody>
      </p:sp>
      <p:sp>
        <p:nvSpPr>
          <p:cNvPr id="15" name="TextBox 14"/>
          <p:cNvSpPr txBox="1"/>
          <p:nvPr/>
        </p:nvSpPr>
        <p:spPr>
          <a:xfrm>
            <a:off x="886968" y="2953511"/>
            <a:ext cx="6400800" cy="457200"/>
          </a:xfrm>
          <a:prstGeom prst="rect">
            <a:avLst/>
          </a:prstGeom>
          <a:noFill/>
        </p:spPr>
        <p:txBody>
          <a:bodyPr wrap="square" lIns="0" rIns="0" tIns="0" bIns="0" anchor="t">
            <a:spAutoFit/>
          </a:bodyPr>
          <a:lstStyle/>
          <a:p>
            <a:pPr algn="l"/>
            <a:r>
              <a:rPr sz="1250" b="0" i="0">
                <a:solidFill>
                  <a:srgbClr val="BEC6D2"/>
                </a:solidFill>
                <a:latin typeface="Aptos"/>
              </a:rPr>
              <a:t>Receipt, 5 Sep 2026: Codex hit its weekly wall at 18:16; the seat continued on Claude — same thread, same memory.</a:t>
            </a:r>
          </a:p>
        </p:txBody>
      </p:sp>
      <p:sp>
        <p:nvSpPr>
          <p:cNvPr id="16" name="Rectangle 15"/>
          <p:cNvSpPr/>
          <p:nvPr/>
        </p:nvSpPr>
        <p:spPr>
          <a:xfrm>
            <a:off x="685800" y="3575303"/>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557015"/>
            <a:ext cx="6400800" cy="329184"/>
          </a:xfrm>
          <a:prstGeom prst="rect">
            <a:avLst/>
          </a:prstGeom>
          <a:noFill/>
        </p:spPr>
        <p:txBody>
          <a:bodyPr wrap="square" lIns="0" rIns="0" tIns="0" bIns="0" anchor="t">
            <a:spAutoFit/>
          </a:bodyPr>
          <a:lstStyle/>
          <a:p>
            <a:pPr algn="l"/>
            <a:r>
              <a:rPr sz="1550" b="1" i="0">
                <a:solidFill>
                  <a:srgbClr val="F6F8FC"/>
                </a:solidFill>
                <a:latin typeface="Aptos"/>
              </a:rPr>
              <a:t>Memory that is a self, in git.</a:t>
            </a:r>
          </a:p>
        </p:txBody>
      </p:sp>
      <p:sp>
        <p:nvSpPr>
          <p:cNvPr id="18" name="TextBox 17"/>
          <p:cNvSpPr txBox="1"/>
          <p:nvPr/>
        </p:nvSpPr>
        <p:spPr>
          <a:xfrm>
            <a:off x="886968" y="3849624"/>
            <a:ext cx="6400800" cy="457200"/>
          </a:xfrm>
          <a:prstGeom prst="rect">
            <a:avLst/>
          </a:prstGeom>
          <a:noFill/>
        </p:spPr>
        <p:txBody>
          <a:bodyPr wrap="square" lIns="0" rIns="0" tIns="0" bIns="0" anchor="t">
            <a:spAutoFit/>
          </a:bodyPr>
          <a:lstStyle/>
          <a:p>
            <a:pPr algn="l"/>
            <a:r>
              <a:rPr sz="1250" b="0" i="0">
                <a:solidFill>
                  <a:srgbClr val="BEC6D2"/>
                </a:solidFill>
                <a:latin typeface="Aptos"/>
              </a:rPr>
              <a:t>Not notes about your repo: the agent's own playbook, pitfalls, schedule, identity.</a:t>
            </a:r>
          </a:p>
        </p:txBody>
      </p:sp>
      <p:sp>
        <p:nvSpPr>
          <p:cNvPr id="19" name="Rectangle 18"/>
          <p:cNvSpPr/>
          <p:nvPr/>
        </p:nvSpPr>
        <p:spPr>
          <a:xfrm>
            <a:off x="685800" y="4471416"/>
            <a:ext cx="41148" cy="56692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4453128"/>
            <a:ext cx="6400800" cy="329184"/>
          </a:xfrm>
          <a:prstGeom prst="rect">
            <a:avLst/>
          </a:prstGeom>
          <a:noFill/>
        </p:spPr>
        <p:txBody>
          <a:bodyPr wrap="square" lIns="0" rIns="0" tIns="0" bIns="0" anchor="t">
            <a:spAutoFit/>
          </a:bodyPr>
          <a:lstStyle/>
          <a:p>
            <a:pPr algn="l"/>
            <a:r>
              <a:rPr sz="1550" b="1" i="0">
                <a:solidFill>
                  <a:srgbClr val="F6F8FC"/>
                </a:solidFill>
                <a:latin typeface="Aptos"/>
              </a:rPr>
              <a:t>Judgement with a contract.</a:t>
            </a:r>
          </a:p>
        </p:txBody>
      </p:sp>
      <p:sp>
        <p:nvSpPr>
          <p:cNvPr id="21" name="TextBox 20"/>
          <p:cNvSpPr txBox="1"/>
          <p:nvPr/>
        </p:nvSpPr>
        <p:spPr>
          <a:xfrm>
            <a:off x="886968" y="4745736"/>
            <a:ext cx="6400800" cy="457200"/>
          </a:xfrm>
          <a:prstGeom prst="rect">
            <a:avLst/>
          </a:prstGeom>
          <a:noFill/>
        </p:spPr>
        <p:txBody>
          <a:bodyPr wrap="square" lIns="0" rIns="0" tIns="0" bIns="0" anchor="t">
            <a:spAutoFit/>
          </a:bodyPr>
          <a:lstStyle/>
          <a:p>
            <a:pPr algn="l"/>
            <a:r>
              <a:rPr sz="1250" b="0" i="0">
                <a:solidFill>
                  <a:srgbClr val="BEC6D2"/>
                </a:solidFill>
                <a:latin typeface="Aptos"/>
              </a:rPr>
              <a:t>Forks handed over with options, self-merge under stated conditions, a work graph, a card that says what it is doing now.</a:t>
            </a:r>
          </a:p>
        </p:txBody>
      </p:sp>
      <p:sp>
        <p:nvSpPr>
          <p:cNvPr id="22" name="Rectangle 21"/>
          <p:cNvSpPr/>
          <p:nvPr/>
        </p:nvSpPr>
        <p:spPr>
          <a:xfrm>
            <a:off x="685800" y="5367527"/>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5349240"/>
            <a:ext cx="6400800" cy="329184"/>
          </a:xfrm>
          <a:prstGeom prst="rect">
            <a:avLst/>
          </a:prstGeom>
          <a:noFill/>
        </p:spPr>
        <p:txBody>
          <a:bodyPr wrap="square" lIns="0" rIns="0" tIns="0" bIns="0" anchor="t">
            <a:spAutoFit/>
          </a:bodyPr>
          <a:lstStyle/>
          <a:p>
            <a:pPr algn="l"/>
            <a:r>
              <a:rPr sz="1550" b="1" i="0">
                <a:solidFill>
                  <a:srgbClr val="F6F8FC"/>
                </a:solidFill>
                <a:latin typeface="Aptos"/>
              </a:rPr>
              <a:t>Your disk. No vendor relay.</a:t>
            </a:r>
          </a:p>
        </p:txBody>
      </p:sp>
      <p:sp>
        <p:nvSpPr>
          <p:cNvPr id="24" name="TextBox 23"/>
          <p:cNvSpPr txBox="1"/>
          <p:nvPr/>
        </p:nvSpPr>
        <p:spPr>
          <a:xfrm>
            <a:off x="886968" y="5641847"/>
            <a:ext cx="6400800" cy="457200"/>
          </a:xfrm>
          <a:prstGeom prst="rect">
            <a:avLst/>
          </a:prstGeom>
          <a:noFill/>
        </p:spPr>
        <p:txBody>
          <a:bodyPr wrap="square" lIns="0" rIns="0" tIns="0" bIns="0" anchor="t">
            <a:spAutoFit/>
          </a:bodyPr>
          <a:lstStyle/>
          <a:p>
            <a:pPr algn="l"/>
            <a:r>
              <a:rPr sz="1250" b="0" i="0">
                <a:solidFill>
                  <a:srgbClr val="BEC6D2"/>
                </a:solidFill>
                <a:latin typeface="Aptos"/>
              </a:rPr>
              <a:t>No transcripts held by a vendor; credentials never leave your machine.</a:t>
            </a:r>
          </a:p>
        </p:txBody>
      </p:sp>
      <p:pic>
        <p:nvPicPr>
          <p:cNvPr id="25" name="loop-2-the-wall.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7635240" y="1783080"/>
            <a:ext cx="4114800" cy="2560320"/>
          </a:xfrm>
          <a:prstGeom prst="rect">
            <a:avLst/>
          </a:prstGeom>
        </p:spPr>
      </p:pic>
      <p:sp>
        <p:nvSpPr>
          <p:cNvPr id="26" name="TextBox 25"/>
          <p:cNvSpPr txBox="1"/>
          <p:nvPr/>
        </p:nvSpPr>
        <p:spPr>
          <a:xfrm>
            <a:off x="7635240" y="4480560"/>
            <a:ext cx="4114800" cy="274320"/>
          </a:xfrm>
          <a:prstGeom prst="rect">
            <a:avLst/>
          </a:prstGeom>
          <a:noFill/>
        </p:spPr>
        <p:txBody>
          <a:bodyPr wrap="square" lIns="0" rIns="0" tIns="0" bIns="0" anchor="t">
            <a:spAutoFit/>
          </a:bodyPr>
          <a:lstStyle/>
          <a:p>
            <a:pPr algn="l"/>
            <a:r>
              <a:rPr sz="1150" b="0" i="1">
                <a:solidFill>
                  <a:srgbClr val="C6E5FF"/>
                </a:solidFill>
                <a:latin typeface="Aptos"/>
              </a:rPr>
              <a:t>quota wall, 5 Sep 18:16 — core flipped, same thread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5"/>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lu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THE PRODUCT · ONE SCREEN</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05</a:t>
            </a:r>
          </a:p>
        </p:txBody>
      </p:sp>
      <p:sp>
        <p:nvSpPr>
          <p:cNvPr id="9" name="TextBox 8"/>
          <p:cNvSpPr txBox="1"/>
          <p:nvPr/>
        </p:nvSpPr>
        <p:spPr>
          <a:xfrm>
            <a:off x="621792" y="896112"/>
            <a:ext cx="6583680" cy="1188720"/>
          </a:xfrm>
          <a:prstGeom prst="rect">
            <a:avLst/>
          </a:prstGeom>
          <a:noFill/>
        </p:spPr>
        <p:txBody>
          <a:bodyPr wrap="square" lIns="0" rIns="0" tIns="0" bIns="0" anchor="t">
            <a:spAutoFit/>
          </a:bodyPr>
          <a:lstStyle/>
          <a:p>
            <a:pPr algn="l">
              <a:lnSpc>
                <a:spcPct val="95000"/>
              </a:lnSpc>
            </a:pPr>
            <a:r>
              <a:rPr sz="3000" b="0" i="0">
                <a:solidFill>
                  <a:srgbClr val="F6F8FC"/>
                </a:solidFill>
                <a:latin typeface="Aptos"/>
              </a:rPr>
              <a:t>Every run inspectable. The resident maintains these itself.</a:t>
            </a:r>
          </a:p>
        </p:txBody>
      </p:sp>
      <p:sp>
        <p:nvSpPr>
          <p:cNvPr id="10" name="Rectangle 9"/>
          <p:cNvSpPr/>
          <p:nvPr/>
        </p:nvSpPr>
        <p:spPr>
          <a:xfrm>
            <a:off x="685800" y="2514600"/>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496312"/>
            <a:ext cx="6217920" cy="329184"/>
          </a:xfrm>
          <a:prstGeom prst="rect">
            <a:avLst/>
          </a:prstGeom>
          <a:noFill/>
        </p:spPr>
        <p:txBody>
          <a:bodyPr wrap="square" lIns="0" rIns="0" tIns="0" bIns="0" anchor="t">
            <a:spAutoFit/>
          </a:bodyPr>
          <a:lstStyle/>
          <a:p>
            <a:pPr algn="l"/>
            <a:r>
              <a:rPr sz="1700" b="1" i="0">
                <a:solidFill>
                  <a:srgbClr val="F6F8FC"/>
                </a:solidFill>
                <a:latin typeface="Aptos"/>
              </a:rPr>
              <a:t>The cloth</a:t>
            </a:r>
          </a:p>
        </p:txBody>
      </p:sp>
      <p:sp>
        <p:nvSpPr>
          <p:cNvPr id="12" name="TextBox 11"/>
          <p:cNvSpPr txBox="1"/>
          <p:nvPr/>
        </p:nvSpPr>
        <p:spPr>
          <a:xfrm>
            <a:off x="886968" y="2788920"/>
            <a:ext cx="6217920" cy="457200"/>
          </a:xfrm>
          <a:prstGeom prst="rect">
            <a:avLst/>
          </a:prstGeom>
          <a:noFill/>
        </p:spPr>
        <p:txBody>
          <a:bodyPr wrap="square" lIns="0" rIns="0" tIns="0" bIns="0" anchor="t">
            <a:spAutoFit/>
          </a:bodyPr>
          <a:lstStyle/>
          <a:p>
            <a:pPr algn="l"/>
            <a:r>
              <a:rPr sz="1400" b="0" i="0">
                <a:solidFill>
                  <a:srgbClr val="BEC6D2"/>
                </a:solidFill>
                <a:latin typeface="Aptos"/>
              </a:rPr>
              <a:t>the runs, live</a:t>
            </a:r>
          </a:p>
        </p:txBody>
      </p:sp>
      <p:sp>
        <p:nvSpPr>
          <p:cNvPr id="13" name="Rectangle 12"/>
          <p:cNvSpPr/>
          <p:nvPr/>
        </p:nvSpPr>
        <p:spPr>
          <a:xfrm>
            <a:off x="685800" y="3410712"/>
            <a:ext cx="41148" cy="56692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3392424"/>
            <a:ext cx="6217920" cy="329184"/>
          </a:xfrm>
          <a:prstGeom prst="rect">
            <a:avLst/>
          </a:prstGeom>
          <a:noFill/>
        </p:spPr>
        <p:txBody>
          <a:bodyPr wrap="square" lIns="0" rIns="0" tIns="0" bIns="0" anchor="t">
            <a:spAutoFit/>
          </a:bodyPr>
          <a:lstStyle/>
          <a:p>
            <a:pPr algn="l"/>
            <a:r>
              <a:rPr sz="1700" b="1" i="0">
                <a:solidFill>
                  <a:srgbClr val="F6F8FC"/>
                </a:solidFill>
                <a:latin typeface="Aptos"/>
              </a:rPr>
              <a:t>The fuel chip</a:t>
            </a:r>
          </a:p>
        </p:txBody>
      </p:sp>
      <p:sp>
        <p:nvSpPr>
          <p:cNvPr id="15" name="TextBox 14"/>
          <p:cNvSpPr txBox="1"/>
          <p:nvPr/>
        </p:nvSpPr>
        <p:spPr>
          <a:xfrm>
            <a:off x="886968" y="3685032"/>
            <a:ext cx="6217920" cy="457200"/>
          </a:xfrm>
          <a:prstGeom prst="rect">
            <a:avLst/>
          </a:prstGeom>
          <a:noFill/>
        </p:spPr>
        <p:txBody>
          <a:bodyPr wrap="square" lIns="0" rIns="0" tIns="0" bIns="0" anchor="t">
            <a:spAutoFit/>
          </a:bodyPr>
          <a:lstStyle/>
          <a:p>
            <a:pPr algn="l"/>
            <a:r>
              <a:rPr sz="1400" b="0" i="0">
                <a:solidFill>
                  <a:srgbClr val="BEC6D2"/>
                </a:solidFill>
                <a:latin typeface="Aptos"/>
              </a:rPr>
              <a:t>which subscription, how much of the week</a:t>
            </a:r>
          </a:p>
        </p:txBody>
      </p:sp>
      <p:sp>
        <p:nvSpPr>
          <p:cNvPr id="16" name="Rectangle 15"/>
          <p:cNvSpPr/>
          <p:nvPr/>
        </p:nvSpPr>
        <p:spPr>
          <a:xfrm>
            <a:off x="685800" y="4306824"/>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4288536"/>
            <a:ext cx="6217920" cy="329184"/>
          </a:xfrm>
          <a:prstGeom prst="rect">
            <a:avLst/>
          </a:prstGeom>
          <a:noFill/>
        </p:spPr>
        <p:txBody>
          <a:bodyPr wrap="square" lIns="0" rIns="0" tIns="0" bIns="0" anchor="t">
            <a:spAutoFit/>
          </a:bodyPr>
          <a:lstStyle/>
          <a:p>
            <a:pPr algn="l"/>
            <a:r>
              <a:rPr sz="1700" b="1" i="0">
                <a:solidFill>
                  <a:srgbClr val="F6F8FC"/>
                </a:solidFill>
                <a:latin typeface="Aptos"/>
              </a:rPr>
              <a:t>The warp</a:t>
            </a:r>
          </a:p>
        </p:txBody>
      </p:sp>
      <p:sp>
        <p:nvSpPr>
          <p:cNvPr id="18" name="TextBox 17"/>
          <p:cNvSpPr txBox="1"/>
          <p:nvPr/>
        </p:nvSpPr>
        <p:spPr>
          <a:xfrm>
            <a:off x="886968" y="4581144"/>
            <a:ext cx="6217920" cy="457200"/>
          </a:xfrm>
          <a:prstGeom prst="rect">
            <a:avLst/>
          </a:prstGeom>
          <a:noFill/>
        </p:spPr>
        <p:txBody>
          <a:bodyPr wrap="square" lIns="0" rIns="0" tIns="0" bIns="0" anchor="t">
            <a:spAutoFit/>
          </a:bodyPr>
          <a:lstStyle/>
          <a:p>
            <a:pPr algn="l"/>
            <a:r>
              <a:rPr sz="1400" b="0" i="0">
                <a:solidFill>
                  <a:srgbClr val="BEC6D2"/>
                </a:solidFill>
                <a:latin typeface="Aptos"/>
              </a:rPr>
              <a:t>the work graph we both edit</a:t>
            </a:r>
          </a:p>
        </p:txBody>
      </p:sp>
      <p:sp>
        <p:nvSpPr>
          <p:cNvPr id="19" name="Rectangle 18"/>
          <p:cNvSpPr/>
          <p:nvPr/>
        </p:nvSpPr>
        <p:spPr>
          <a:xfrm>
            <a:off x="685800" y="5202936"/>
            <a:ext cx="41148" cy="56692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5184648"/>
            <a:ext cx="6217920" cy="329184"/>
          </a:xfrm>
          <a:prstGeom prst="rect">
            <a:avLst/>
          </a:prstGeom>
          <a:noFill/>
        </p:spPr>
        <p:txBody>
          <a:bodyPr wrap="square" lIns="0" rIns="0" tIns="0" bIns="0" anchor="t">
            <a:spAutoFit/>
          </a:bodyPr>
          <a:lstStyle/>
          <a:p>
            <a:pPr algn="l"/>
            <a:r>
              <a:rPr sz="1700" b="1" i="0">
                <a:solidFill>
                  <a:srgbClr val="F6F8FC"/>
                </a:solidFill>
                <a:latin typeface="Aptos"/>
              </a:rPr>
              <a:t>The run card</a:t>
            </a:r>
          </a:p>
        </p:txBody>
      </p:sp>
      <p:sp>
        <p:nvSpPr>
          <p:cNvPr id="21" name="TextBox 20"/>
          <p:cNvSpPr txBox="1"/>
          <p:nvPr/>
        </p:nvSpPr>
        <p:spPr>
          <a:xfrm>
            <a:off x="886968" y="5477255"/>
            <a:ext cx="6217920" cy="457200"/>
          </a:xfrm>
          <a:prstGeom prst="rect">
            <a:avLst/>
          </a:prstGeom>
          <a:noFill/>
        </p:spPr>
        <p:txBody>
          <a:bodyPr wrap="square" lIns="0" rIns="0" tIns="0" bIns="0" anchor="t">
            <a:spAutoFit/>
          </a:bodyPr>
          <a:lstStyle/>
          <a:p>
            <a:pPr algn="l"/>
            <a:r>
              <a:rPr sz="1400" b="0" i="0">
                <a:solidFill>
                  <a:srgbClr val="BEC6D2"/>
                </a:solidFill>
                <a:latin typeface="Aptos"/>
              </a:rPr>
              <a:t>Now · Plan · Vector</a:t>
            </a:r>
          </a:p>
        </p:txBody>
      </p:sp>
      <p:pic>
        <p:nvPicPr>
          <p:cNvPr id="22" name="loop-4-away.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7406640" y="1051560"/>
            <a:ext cx="4297680" cy="2761488"/>
          </a:xfrm>
          <a:prstGeom prst="rect">
            <a:avLst/>
          </a:prstGeom>
        </p:spPr>
      </p:pic>
      <p:sp>
        <p:nvSpPr>
          <p:cNvPr id="23" name="TextBox 22"/>
          <p:cNvSpPr txBox="1"/>
          <p:nvPr/>
        </p:nvSpPr>
        <p:spPr>
          <a:xfrm>
            <a:off x="7406640" y="3977639"/>
            <a:ext cx="4297680" cy="274320"/>
          </a:xfrm>
          <a:prstGeom prst="rect">
            <a:avLst/>
          </a:prstGeom>
          <a:noFill/>
        </p:spPr>
        <p:txBody>
          <a:bodyPr wrap="square" lIns="0" rIns="0" tIns="0" bIns="0" anchor="t">
            <a:spAutoFit/>
          </a:bodyPr>
          <a:lstStyle/>
          <a:p>
            <a:pPr algn="l"/>
            <a:r>
              <a:rPr sz="1150" b="0" i="1">
                <a:solidFill>
                  <a:srgbClr val="C6E5FF"/>
                </a:solidFill>
                <a:latin typeface="Aptos"/>
              </a:rPr>
              <a:t>the seat, overnight — run cards, not a log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ark.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THE PLACE · IN THE WORKSHOP</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06</a:t>
            </a:r>
          </a:p>
        </p:txBody>
      </p:sp>
      <p:sp>
        <p:nvSpPr>
          <p:cNvPr id="9" name="TextBox 8"/>
          <p:cNvSpPr txBox="1"/>
          <p:nvPr/>
        </p:nvSpPr>
        <p:spPr>
          <a:xfrm>
            <a:off x="621792" y="896112"/>
            <a:ext cx="5120640" cy="1188720"/>
          </a:xfrm>
          <a:prstGeom prst="rect">
            <a:avLst/>
          </a:prstGeom>
          <a:noFill/>
        </p:spPr>
        <p:txBody>
          <a:bodyPr wrap="square" lIns="0" rIns="0" tIns="0" bIns="0" anchor="t">
            <a:spAutoFit/>
          </a:bodyPr>
          <a:lstStyle/>
          <a:p>
            <a:pPr algn="l">
              <a:lnSpc>
                <a:spcPct val="95000"/>
              </a:lnSpc>
            </a:pPr>
            <a:r>
              <a:rPr sz="3200" b="0" i="0">
                <a:solidFill>
                  <a:srgbClr val="F6F8FC"/>
                </a:solidFill>
                <a:latin typeface="Aptos"/>
              </a:rPr>
              <a:t>The resident is an actor in a place.</a:t>
            </a:r>
          </a:p>
        </p:txBody>
      </p:sp>
      <p:sp>
        <p:nvSpPr>
          <p:cNvPr id="10" name="TextBox 9"/>
          <p:cNvSpPr txBox="1"/>
          <p:nvPr/>
        </p:nvSpPr>
        <p:spPr>
          <a:xfrm>
            <a:off x="685800" y="2240280"/>
            <a:ext cx="4480560" cy="1463040"/>
          </a:xfrm>
          <a:prstGeom prst="rect">
            <a:avLst/>
          </a:prstGeom>
          <a:noFill/>
        </p:spPr>
        <p:txBody>
          <a:bodyPr wrap="square" lIns="0" rIns="0" tIns="0" bIns="0" anchor="t">
            <a:spAutoFit/>
          </a:bodyPr>
          <a:lstStyle/>
          <a:p>
            <a:pPr algn="l">
              <a:lnSpc>
                <a:spcPct val="108000"/>
              </a:lnSpc>
            </a:pPr>
            <a:r>
              <a:rPr sz="1550" b="0" i="0">
                <a:solidFill>
                  <a:srgbClr val="BEC6D2"/>
                </a:solidFill>
                <a:latin typeface="Aptos"/>
              </a:rPr>
              <a:t>The streets: the whole tree at real scale. The drone walks its route. Skins are the fork-and-PR lane.</a:t>
            </a:r>
          </a:p>
        </p:txBody>
      </p:sp>
      <p:sp>
        <p:nvSpPr>
          <p:cNvPr id="11" name="TextBox 10"/>
          <p:cNvSpPr txBox="1"/>
          <p:nvPr/>
        </p:nvSpPr>
        <p:spPr>
          <a:xfrm>
            <a:off x="685800" y="3749039"/>
            <a:ext cx="4480560" cy="1371600"/>
          </a:xfrm>
          <a:prstGeom prst="rect">
            <a:avLst/>
          </a:prstGeom>
          <a:noFill/>
        </p:spPr>
        <p:txBody>
          <a:bodyPr wrap="square" lIns="0" rIns="0" tIns="0" bIns="0" anchor="t">
            <a:spAutoFit/>
          </a:bodyPr>
          <a:lstStyle/>
          <a:p>
            <a:pPr algn="l">
              <a:lnSpc>
                <a:spcPct val="108000"/>
              </a:lnSpc>
            </a:pPr>
            <a:r>
              <a:rPr sz="1650" b="0" i="0">
                <a:solidFill>
                  <a:srgbClr val="F6F8FC"/>
                </a:solidFill>
                <a:latin typeface="Aptos"/>
              </a:rPr>
              <a:t>Every feature on the previous slides will be copied. A place, and a life in git, are harder to copy.</a:t>
            </a:r>
          </a:p>
        </p:txBody>
      </p:sp>
      <p:sp>
        <p:nvSpPr>
          <p:cNvPr id="12" name="TextBox 11"/>
          <p:cNvSpPr txBox="1"/>
          <p:nvPr/>
        </p:nvSpPr>
        <p:spPr>
          <a:xfrm>
            <a:off x="685800" y="5440680"/>
            <a:ext cx="4480560" cy="274320"/>
          </a:xfrm>
          <a:prstGeom prst="rect">
            <a:avLst/>
          </a:prstGeom>
          <a:noFill/>
        </p:spPr>
        <p:txBody>
          <a:bodyPr wrap="square" lIns="0" rIns="0" tIns="0" bIns="0" anchor="t">
            <a:spAutoFit/>
          </a:bodyPr>
          <a:lstStyle/>
          <a:p>
            <a:pPr algn="l"/>
            <a:r>
              <a:rPr sz="1200" b="1" i="0">
                <a:solidFill>
                  <a:srgbClr val="FFB739"/>
                </a:solidFill>
                <a:latin typeface="Aptos"/>
              </a:rPr>
              <a:t>IN THE WORKSHOP — NOT THE PRODUCT YET</a:t>
            </a:r>
          </a:p>
        </p:txBody>
      </p:sp>
      <p:pic>
        <p:nvPicPr>
          <p:cNvPr id="13" name="Picture 12" descr="field8-lit.png"/>
          <p:cNvPicPr>
            <a:picLocks noChangeAspect="1"/>
          </p:cNvPicPr>
          <p:nvPr/>
        </p:nvPicPr>
        <p:blipFill>
          <a:blip r:embed="rId3"/>
          <a:stretch>
            <a:fillRect/>
          </a:stretch>
        </p:blipFill>
        <p:spPr>
          <a:xfrm>
            <a:off x="5486400" y="868680"/>
            <a:ext cx="6309360" cy="3943350"/>
          </a:xfrm>
          <a:prstGeom prst="rect">
            <a:avLst/>
          </a:prstGeom>
        </p:spPr>
      </p:pic>
      <p:sp>
        <p:nvSpPr>
          <p:cNvPr id="14" name="TextBox 13"/>
          <p:cNvSpPr txBox="1"/>
          <p:nvPr/>
        </p:nvSpPr>
        <p:spPr>
          <a:xfrm>
            <a:off x="5486400" y="4937760"/>
            <a:ext cx="6309360" cy="274320"/>
          </a:xfrm>
          <a:prstGeom prst="rect">
            <a:avLst/>
          </a:prstGeom>
          <a:noFill/>
        </p:spPr>
        <p:txBody>
          <a:bodyPr wrap="square" lIns="0" rIns="0" tIns="0" bIns="0" anchor="t">
            <a:spAutoFit/>
          </a:bodyPr>
          <a:lstStyle/>
          <a:p>
            <a:pPr algn="l"/>
            <a:r>
              <a:rPr sz="1150" b="0" i="1">
                <a:solidFill>
                  <a:srgbClr val="C6E5FF"/>
                </a:solidFill>
                <a:latin typeface="Aptos"/>
              </a:rPr>
              <a:t>field 8 — the streets: the tree as a place, one frame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wid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BUSINESS MODEL</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07</a:t>
            </a:r>
          </a:p>
        </p:txBody>
      </p:sp>
      <p:sp>
        <p:nvSpPr>
          <p:cNvPr id="9" name="TextBox 8"/>
          <p:cNvSpPr txBox="1"/>
          <p:nvPr/>
        </p:nvSpPr>
        <p:spPr>
          <a:xfrm>
            <a:off x="621792" y="896112"/>
            <a:ext cx="10881360" cy="640080"/>
          </a:xfrm>
          <a:prstGeom prst="rect">
            <a:avLst/>
          </a:prstGeom>
          <a:noFill/>
        </p:spPr>
        <p:txBody>
          <a:bodyPr wrap="square" lIns="0" rIns="0" tIns="0" bIns="0" anchor="t">
            <a:spAutoFit/>
          </a:bodyPr>
          <a:lstStyle/>
          <a:p>
            <a:pPr algn="l">
              <a:lnSpc>
                <a:spcPct val="95000"/>
              </a:lnSpc>
            </a:pPr>
            <a:r>
              <a:rPr sz="3400" b="0" i="0">
                <a:solidFill>
                  <a:srgbClr val="F6F8FC"/>
                </a:solidFill>
                <a:latin typeface="Aptos"/>
              </a:rPr>
              <a:t>Zero COGS today. Margin tomorrow.</a:t>
            </a:r>
          </a:p>
        </p:txBody>
      </p:sp>
      <p:sp>
        <p:nvSpPr>
          <p:cNvPr id="10" name="Rectangle 9"/>
          <p:cNvSpPr/>
          <p:nvPr/>
        </p:nvSpPr>
        <p:spPr>
          <a:xfrm>
            <a:off x="685800" y="1783080"/>
            <a:ext cx="41148" cy="777240"/>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764792"/>
            <a:ext cx="1463040" cy="320040"/>
          </a:xfrm>
          <a:prstGeom prst="rect">
            <a:avLst/>
          </a:prstGeom>
          <a:noFill/>
        </p:spPr>
        <p:txBody>
          <a:bodyPr wrap="square" lIns="0" rIns="0" tIns="0" bIns="0" anchor="t">
            <a:spAutoFit/>
          </a:bodyPr>
          <a:lstStyle/>
          <a:p>
            <a:pPr algn="l"/>
            <a:r>
              <a:rPr sz="1500" b="1" i="0">
                <a:solidFill>
                  <a:srgbClr val="C6E5FF"/>
                </a:solidFill>
                <a:latin typeface="Aptos"/>
              </a:rPr>
              <a:t>Today</a:t>
            </a:r>
          </a:p>
        </p:txBody>
      </p:sp>
      <p:sp>
        <p:nvSpPr>
          <p:cNvPr id="12" name="TextBox 11"/>
          <p:cNvSpPr txBox="1"/>
          <p:nvPr/>
        </p:nvSpPr>
        <p:spPr>
          <a:xfrm>
            <a:off x="2468880" y="1764792"/>
            <a:ext cx="8503920" cy="822960"/>
          </a:xfrm>
          <a:prstGeom prst="rect">
            <a:avLst/>
          </a:prstGeom>
          <a:noFill/>
        </p:spPr>
        <p:txBody>
          <a:bodyPr wrap="square" lIns="0" rIns="0" tIns="0" bIns="0" anchor="t">
            <a:spAutoFit/>
          </a:bodyPr>
          <a:lstStyle/>
          <a:p>
            <a:pPr algn="l">
              <a:lnSpc>
                <a:spcPct val="105000"/>
              </a:lnSpc>
            </a:pPr>
            <a:r>
              <a:rPr sz="1500" b="0" i="0">
                <a:solidFill>
                  <a:srgbClr val="F6F8FC"/>
                </a:solidFill>
                <a:latin typeface="Aptos"/>
              </a:rPr>
              <a:t>the user's own subscriptions carry the inference. $7/mo hosted relay is the filter.</a:t>
            </a:r>
          </a:p>
        </p:txBody>
      </p:sp>
      <p:sp>
        <p:nvSpPr>
          <p:cNvPr id="13" name="Rectangle 12"/>
          <p:cNvSpPr/>
          <p:nvPr/>
        </p:nvSpPr>
        <p:spPr>
          <a:xfrm>
            <a:off x="685800" y="2743200"/>
            <a:ext cx="41148" cy="777240"/>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24912"/>
            <a:ext cx="1463040" cy="320040"/>
          </a:xfrm>
          <a:prstGeom prst="rect">
            <a:avLst/>
          </a:prstGeom>
          <a:noFill/>
        </p:spPr>
        <p:txBody>
          <a:bodyPr wrap="square" lIns="0" rIns="0" tIns="0" bIns="0" anchor="t">
            <a:spAutoFit/>
          </a:bodyPr>
          <a:lstStyle/>
          <a:p>
            <a:pPr algn="l"/>
            <a:r>
              <a:rPr sz="1500" b="1" i="0">
                <a:solidFill>
                  <a:srgbClr val="FFB739"/>
                </a:solidFill>
                <a:latin typeface="Aptos"/>
              </a:rPr>
              <a:t>The money</a:t>
            </a:r>
          </a:p>
        </p:txBody>
      </p:sp>
      <p:sp>
        <p:nvSpPr>
          <p:cNvPr id="15" name="TextBox 14"/>
          <p:cNvSpPr txBox="1"/>
          <p:nvPr/>
        </p:nvSpPr>
        <p:spPr>
          <a:xfrm>
            <a:off x="2468880" y="2724912"/>
            <a:ext cx="8503920" cy="822960"/>
          </a:xfrm>
          <a:prstGeom prst="rect">
            <a:avLst/>
          </a:prstGeom>
          <a:noFill/>
        </p:spPr>
        <p:txBody>
          <a:bodyPr wrap="square" lIns="0" rIns="0" tIns="0" bIns="0" anchor="t">
            <a:spAutoFit/>
          </a:bodyPr>
          <a:lstStyle/>
          <a:p>
            <a:pPr algn="l">
              <a:lnSpc>
                <a:spcPct val="105000"/>
              </a:lnSpc>
            </a:pPr>
            <a:r>
              <a:rPr sz="1500" b="0" i="0">
                <a:solidFill>
                  <a:srgbClr val="F6F8FC"/>
                </a:solidFill>
                <a:latin typeface="Aptos"/>
              </a:rPr>
              <a:t>fallback intelligence and compute with a margin: hosted execution (the seat on our box) · local agents as runners (Ollama, OpenHands, OpenCode) as models go compact · eventually our own models.</a:t>
            </a:r>
          </a:p>
        </p:txBody>
      </p:sp>
      <p:sp>
        <p:nvSpPr>
          <p:cNvPr id="16" name="Rectangle 15"/>
          <p:cNvSpPr/>
          <p:nvPr/>
        </p:nvSpPr>
        <p:spPr>
          <a:xfrm>
            <a:off x="685800" y="3703320"/>
            <a:ext cx="41148" cy="365760"/>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685032"/>
            <a:ext cx="10058400" cy="365760"/>
          </a:xfrm>
          <a:prstGeom prst="rect">
            <a:avLst/>
          </a:prstGeom>
          <a:noFill/>
        </p:spPr>
        <p:txBody>
          <a:bodyPr wrap="square" lIns="0" rIns="0" tIns="0" bIns="0" anchor="t">
            <a:spAutoFit/>
          </a:bodyPr>
          <a:lstStyle/>
          <a:p>
            <a:pPr algn="l"/>
            <a:r>
              <a:rPr sz="1500" b="0" i="0">
                <a:solidFill>
                  <a:srgbClr val="F6F8FC"/>
                </a:solidFill>
                <a:latin typeface="Aptos"/>
              </a:rPr>
              <a:t>Tiers by seat; team seats after multi-user.</a:t>
            </a:r>
          </a:p>
        </p:txBody>
      </p:sp>
      <p:sp>
        <p:nvSpPr>
          <p:cNvPr id="18" name="Rectangle 17"/>
          <p:cNvSpPr/>
          <p:nvPr/>
        </p:nvSpPr>
        <p:spPr>
          <a:xfrm>
            <a:off x="685800" y="4343400"/>
            <a:ext cx="41148" cy="777240"/>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25112"/>
            <a:ext cx="1463040" cy="320040"/>
          </a:xfrm>
          <a:prstGeom prst="rect">
            <a:avLst/>
          </a:prstGeom>
          <a:noFill/>
        </p:spPr>
        <p:txBody>
          <a:bodyPr wrap="square" lIns="0" rIns="0" tIns="0" bIns="0" anchor="t">
            <a:spAutoFit/>
          </a:bodyPr>
          <a:lstStyle/>
          <a:p>
            <a:pPr algn="l"/>
            <a:r>
              <a:rPr sz="1500" b="1" i="0">
                <a:solidFill>
                  <a:srgbClr val="FFB739"/>
                </a:solidFill>
                <a:latin typeface="Aptos"/>
              </a:rPr>
              <a:t>The yardstick</a:t>
            </a:r>
          </a:p>
        </p:txBody>
      </p:sp>
      <p:sp>
        <p:nvSpPr>
          <p:cNvPr id="20" name="TextBox 19"/>
          <p:cNvSpPr txBox="1"/>
          <p:nvPr/>
        </p:nvSpPr>
        <p:spPr>
          <a:xfrm>
            <a:off x="2468880" y="4325112"/>
            <a:ext cx="8503920" cy="822960"/>
          </a:xfrm>
          <a:prstGeom prst="rect">
            <a:avLst/>
          </a:prstGeom>
          <a:noFill/>
        </p:spPr>
        <p:txBody>
          <a:bodyPr wrap="square" lIns="0" rIns="0" tIns="0" bIns="0" anchor="t">
            <a:spAutoFit/>
          </a:bodyPr>
          <a:lstStyle/>
          <a:p>
            <a:pPr algn="l">
              <a:lnSpc>
                <a:spcPct val="105000"/>
              </a:lnSpc>
            </a:pPr>
            <a:r>
              <a:rPr sz="1500" b="0" i="0">
                <a:solidFill>
                  <a:srgbClr val="F6F8FC"/>
                </a:solidFill>
                <a:latin typeface="Aptos"/>
              </a:rPr>
              <a:t>A 70-hour run at API list price: $433–$1,159. The plan it ran on: $100 a month.</a:t>
            </a:r>
          </a:p>
        </p:txBody>
      </p:sp>
      <p:sp>
        <p:nvSpPr>
          <p:cNvPr id="21" name="TextBox 20"/>
          <p:cNvSpPr txBox="1"/>
          <p:nvPr/>
        </p:nvSpPr>
        <p:spPr>
          <a:xfrm>
            <a:off x="685800" y="5669280"/>
            <a:ext cx="10515600" cy="365760"/>
          </a:xfrm>
          <a:prstGeom prst="rect">
            <a:avLst/>
          </a:prstGeom>
          <a:noFill/>
        </p:spPr>
        <p:txBody>
          <a:bodyPr wrap="square" lIns="0" rIns="0" tIns="0" bIns="0" anchor="t">
            <a:spAutoFit/>
          </a:bodyPr>
          <a:lstStyle/>
          <a:p>
            <a:pPr algn="l"/>
            <a:r>
              <a:rPr sz="1700" b="0" i="1">
                <a:solidFill>
                  <a:srgbClr val="FFB739"/>
                </a:solidFill>
                <a:latin typeface="Aptos"/>
              </a:rPr>
              <a:t>a layer on every harness — and a runner of its own when the market goes local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lu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TRACTION · THE HONEST SLIDE</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08</a:t>
            </a:r>
          </a:p>
        </p:txBody>
      </p:sp>
      <p:sp>
        <p:nvSpPr>
          <p:cNvPr id="9" name="TextBox 8"/>
          <p:cNvSpPr txBox="1"/>
          <p:nvPr/>
        </p:nvSpPr>
        <p:spPr>
          <a:xfrm>
            <a:off x="621792" y="896112"/>
            <a:ext cx="10881360" cy="731520"/>
          </a:xfrm>
          <a:prstGeom prst="rect">
            <a:avLst/>
          </a:prstGeom>
          <a:noFill/>
        </p:spPr>
        <p:txBody>
          <a:bodyPr wrap="square" lIns="0" rIns="0" tIns="0" bIns="0" anchor="t">
            <a:spAutoFit/>
          </a:bodyPr>
          <a:lstStyle/>
          <a:p>
            <a:pPr algn="l">
              <a:lnSpc>
                <a:spcPct val="95000"/>
              </a:lnSpc>
            </a:pPr>
            <a:r>
              <a:rPr sz="4000" b="0" i="0">
                <a:solidFill>
                  <a:srgbClr val="F6F8FC"/>
                </a:solidFill>
                <a:latin typeface="Aptos"/>
              </a:rPr>
              <a:t>Users: 3. Paid: 0.</a:t>
            </a:r>
          </a:p>
        </p:txBody>
      </p:sp>
      <p:sp>
        <p:nvSpPr>
          <p:cNvPr id="10" name="TextBox 9"/>
          <p:cNvSpPr txBox="1"/>
          <p:nvPr/>
        </p:nvSpPr>
        <p:spPr>
          <a:xfrm>
            <a:off x="685800" y="1965960"/>
            <a:ext cx="2651760" cy="548640"/>
          </a:xfrm>
          <a:prstGeom prst="rect">
            <a:avLst/>
          </a:prstGeom>
          <a:noFill/>
        </p:spPr>
        <p:txBody>
          <a:bodyPr wrap="square" lIns="0" rIns="0" tIns="0" bIns="0" anchor="t">
            <a:spAutoFit/>
          </a:bodyPr>
          <a:lstStyle/>
          <a:p>
            <a:pPr algn="l"/>
            <a:r>
              <a:rPr sz="3000" b="1" i="0">
                <a:solidFill>
                  <a:srgbClr val="FFB739"/>
                </a:solidFill>
                <a:latin typeface="Aptos"/>
              </a:rPr>
              <a:t>3</a:t>
            </a:r>
          </a:p>
        </p:txBody>
      </p:sp>
      <p:sp>
        <p:nvSpPr>
          <p:cNvPr id="11" name="TextBox 10"/>
          <p:cNvSpPr txBox="1"/>
          <p:nvPr/>
        </p:nvSpPr>
        <p:spPr>
          <a:xfrm>
            <a:off x="685800" y="2532888"/>
            <a:ext cx="2651760" cy="548640"/>
          </a:xfrm>
          <a:prstGeom prst="rect">
            <a:avLst/>
          </a:prstGeom>
          <a:noFill/>
        </p:spPr>
        <p:txBody>
          <a:bodyPr wrap="square" lIns="0" rIns="0" tIns="0" bIns="0" anchor="t">
            <a:spAutoFit/>
          </a:bodyPr>
          <a:lstStyle/>
          <a:p>
            <a:pPr algn="l"/>
            <a:r>
              <a:rPr sz="1200" b="0" i="0">
                <a:solidFill>
                  <a:srgbClr val="BEC6D2"/>
                </a:solidFill>
                <a:latin typeface="Aptos"/>
              </a:rPr>
              <a:t>users — the two founders and the intern</a:t>
            </a:r>
          </a:p>
        </p:txBody>
      </p:sp>
      <p:sp>
        <p:nvSpPr>
          <p:cNvPr id="12" name="TextBox 11"/>
          <p:cNvSpPr txBox="1"/>
          <p:nvPr/>
        </p:nvSpPr>
        <p:spPr>
          <a:xfrm>
            <a:off x="3520440" y="1965960"/>
            <a:ext cx="2651760" cy="548640"/>
          </a:xfrm>
          <a:prstGeom prst="rect">
            <a:avLst/>
          </a:prstGeom>
          <a:noFill/>
        </p:spPr>
        <p:txBody>
          <a:bodyPr wrap="square" lIns="0" rIns="0" tIns="0" bIns="0" anchor="t">
            <a:spAutoFit/>
          </a:bodyPr>
          <a:lstStyle/>
          <a:p>
            <a:pPr algn="l"/>
            <a:r>
              <a:rPr sz="3000" b="1" i="0">
                <a:solidFill>
                  <a:srgbClr val="FFB739"/>
                </a:solidFill>
                <a:latin typeface="Aptos"/>
              </a:rPr>
              <a:t>0 recorded</a:t>
            </a:r>
          </a:p>
        </p:txBody>
      </p:sp>
      <p:sp>
        <p:nvSpPr>
          <p:cNvPr id="13" name="TextBox 12"/>
          <p:cNvSpPr txBox="1"/>
          <p:nvPr/>
        </p:nvSpPr>
        <p:spPr>
          <a:xfrm>
            <a:off x="3520440" y="2532888"/>
            <a:ext cx="2651760" cy="548640"/>
          </a:xfrm>
          <a:prstGeom prst="rect">
            <a:avLst/>
          </a:prstGeom>
          <a:noFill/>
        </p:spPr>
        <p:txBody>
          <a:bodyPr wrap="square" lIns="0" rIns="0" tIns="0" bIns="0" anchor="t">
            <a:spAutoFit/>
          </a:bodyPr>
          <a:lstStyle/>
          <a:p>
            <a:pPr algn="l"/>
            <a:r>
              <a:rPr sz="1200" b="0" i="0">
                <a:solidFill>
                  <a:srgbClr val="BEC6D2"/>
                </a:solidFill>
                <a:latin typeface="Aptos"/>
              </a:rPr>
              <a:t>external installs (the counter shipped 2026-09-20)</a:t>
            </a:r>
          </a:p>
        </p:txBody>
      </p:sp>
      <p:sp>
        <p:nvSpPr>
          <p:cNvPr id="14" name="TextBox 13"/>
          <p:cNvSpPr txBox="1"/>
          <p:nvPr/>
        </p:nvSpPr>
        <p:spPr>
          <a:xfrm>
            <a:off x="6355080" y="1965960"/>
            <a:ext cx="2651760" cy="548640"/>
          </a:xfrm>
          <a:prstGeom prst="rect">
            <a:avLst/>
          </a:prstGeom>
          <a:noFill/>
        </p:spPr>
        <p:txBody>
          <a:bodyPr wrap="square" lIns="0" rIns="0" tIns="0" bIns="0" anchor="t">
            <a:spAutoFit/>
          </a:bodyPr>
          <a:lstStyle/>
          <a:p>
            <a:pPr algn="l"/>
            <a:r>
              <a:rPr sz="3000" b="1" i="0">
                <a:solidFill>
                  <a:srgbClr val="FFB739"/>
                </a:solidFill>
                <a:latin typeface="Aptos"/>
              </a:rPr>
              <a:t>0</a:t>
            </a:r>
          </a:p>
        </p:txBody>
      </p:sp>
      <p:sp>
        <p:nvSpPr>
          <p:cNvPr id="15" name="TextBox 14"/>
          <p:cNvSpPr txBox="1"/>
          <p:nvPr/>
        </p:nvSpPr>
        <p:spPr>
          <a:xfrm>
            <a:off x="6355080" y="2532888"/>
            <a:ext cx="2651760" cy="548640"/>
          </a:xfrm>
          <a:prstGeom prst="rect">
            <a:avLst/>
          </a:prstGeom>
          <a:noFill/>
        </p:spPr>
        <p:txBody>
          <a:bodyPr wrap="square" lIns="0" rIns="0" tIns="0" bIns="0" anchor="t">
            <a:spAutoFit/>
          </a:bodyPr>
          <a:lstStyle/>
          <a:p>
            <a:pPr algn="l"/>
            <a:r>
              <a:rPr sz="1200" b="0" i="0">
                <a:solidFill>
                  <a:srgbClr val="BEC6D2"/>
                </a:solidFill>
                <a:latin typeface="Aptos"/>
              </a:rPr>
              <a:t>external first tasks · 0 paid</a:t>
            </a:r>
          </a:p>
        </p:txBody>
      </p:sp>
      <p:sp>
        <p:nvSpPr>
          <p:cNvPr id="16" name="TextBox 15"/>
          <p:cNvSpPr txBox="1"/>
          <p:nvPr/>
        </p:nvSpPr>
        <p:spPr>
          <a:xfrm>
            <a:off x="9189720" y="1965960"/>
            <a:ext cx="2651760" cy="548640"/>
          </a:xfrm>
          <a:prstGeom prst="rect">
            <a:avLst/>
          </a:prstGeom>
          <a:noFill/>
        </p:spPr>
        <p:txBody>
          <a:bodyPr wrap="square" lIns="0" rIns="0" tIns="0" bIns="0" anchor="t">
            <a:spAutoFit/>
          </a:bodyPr>
          <a:lstStyle/>
          <a:p>
            <a:pPr algn="l"/>
            <a:r>
              <a:rPr sz="3000" b="1" i="0">
                <a:solidFill>
                  <a:srgbClr val="FFB739"/>
                </a:solidFill>
                <a:latin typeface="Aptos"/>
              </a:rPr>
              <a:t>8 · 4</a:t>
            </a:r>
          </a:p>
        </p:txBody>
      </p:sp>
      <p:sp>
        <p:nvSpPr>
          <p:cNvPr id="17" name="TextBox 16"/>
          <p:cNvSpPr txBox="1"/>
          <p:nvPr/>
        </p:nvSpPr>
        <p:spPr>
          <a:xfrm>
            <a:off x="9189720" y="2532888"/>
            <a:ext cx="2651760" cy="548640"/>
          </a:xfrm>
          <a:prstGeom prst="rect">
            <a:avLst/>
          </a:prstGeom>
          <a:noFill/>
        </p:spPr>
        <p:txBody>
          <a:bodyPr wrap="square" lIns="0" rIns="0" tIns="0" bIns="0" anchor="t">
            <a:spAutoFit/>
          </a:bodyPr>
          <a:lstStyle/>
          <a:p>
            <a:pPr algn="l"/>
            <a:r>
              <a:rPr sz="1200" b="0" i="0">
                <a:solidFill>
                  <a:srgbClr val="BEC6D2"/>
                </a:solidFill>
                <a:latin typeface="Aptos"/>
              </a:rPr>
              <a:t>GitHub stars · forks</a:t>
            </a:r>
          </a:p>
        </p:txBody>
      </p:sp>
      <p:sp>
        <p:nvSpPr>
          <p:cNvPr id="18" name="Rectangle 17"/>
          <p:cNvSpPr/>
          <p:nvPr/>
        </p:nvSpPr>
        <p:spPr>
          <a:xfrm>
            <a:off x="685800" y="3703320"/>
            <a:ext cx="1060704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931920"/>
            <a:ext cx="3657600" cy="320040"/>
          </a:xfrm>
          <a:prstGeom prst="rect">
            <a:avLst/>
          </a:prstGeom>
          <a:noFill/>
        </p:spPr>
        <p:txBody>
          <a:bodyPr wrap="square" lIns="0" rIns="0" tIns="0" bIns="0" anchor="t">
            <a:spAutoFit/>
          </a:bodyPr>
          <a:lstStyle/>
          <a:p>
            <a:pPr algn="l"/>
            <a:r>
              <a:rPr sz="1300" b="1" i="0">
                <a:solidFill>
                  <a:srgbClr val="C6E5FF"/>
                </a:solidFill>
                <a:latin typeface="Aptos"/>
              </a:rPr>
              <a:t>What the next 90 days measure</a:t>
            </a:r>
          </a:p>
        </p:txBody>
      </p:sp>
      <p:sp>
        <p:nvSpPr>
          <p:cNvPr id="20" name="TextBox 19"/>
          <p:cNvSpPr txBox="1"/>
          <p:nvPr/>
        </p:nvSpPr>
        <p:spPr>
          <a:xfrm>
            <a:off x="685800" y="4343400"/>
            <a:ext cx="10424160" cy="457200"/>
          </a:xfrm>
          <a:prstGeom prst="rect">
            <a:avLst/>
          </a:prstGeom>
          <a:noFill/>
        </p:spPr>
        <p:txBody>
          <a:bodyPr wrap="square" lIns="0" rIns="0" tIns="0" bIns="0" anchor="t">
            <a:spAutoFit/>
          </a:bodyPr>
          <a:lstStyle/>
          <a:p>
            <a:pPr algn="l"/>
            <a:r>
              <a:rPr sz="1900" b="0" i="0">
                <a:solidFill>
                  <a:srgbClr val="F6F8FC"/>
                </a:solidFill>
                <a:latin typeface="Aptos"/>
              </a:rPr>
              <a:t>installs → first task → second-task return ≤ 7 days → fifth task, weekly rows.</a:t>
            </a:r>
          </a:p>
        </p:txBody>
      </p:sp>
      <p:sp>
        <p:nvSpPr>
          <p:cNvPr id="21" name="TextBox 20"/>
          <p:cNvSpPr txBox="1"/>
          <p:nvPr/>
        </p:nvSpPr>
        <p:spPr>
          <a:xfrm>
            <a:off x="685800" y="5166360"/>
            <a:ext cx="10424160" cy="457200"/>
          </a:xfrm>
          <a:prstGeom prst="rect">
            <a:avLst/>
          </a:prstGeom>
          <a:noFill/>
        </p:spPr>
        <p:txBody>
          <a:bodyPr wrap="square" lIns="0" rIns="0" tIns="0" bIns="0" anchor="t">
            <a:spAutoFit/>
          </a:bodyPr>
          <a:lstStyle/>
          <a:p>
            <a:pPr algn="l"/>
            <a:r>
              <a:rPr sz="2000" b="0" i="1">
                <a:solidFill>
                  <a:srgbClr val="FFB739"/>
                </a:solidFill>
                <a:latin typeface="Aptos"/>
              </a:rPr>
              <a:t>We are showing you the instrument, not the number.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ark.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GO-TO-MARKET</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09</a:t>
            </a:r>
          </a:p>
        </p:txBody>
      </p:sp>
      <p:sp>
        <p:nvSpPr>
          <p:cNvPr id="9" name="TextBox 8"/>
          <p:cNvSpPr txBox="1"/>
          <p:nvPr/>
        </p:nvSpPr>
        <p:spPr>
          <a:xfrm>
            <a:off x="621792" y="896112"/>
            <a:ext cx="10881360" cy="640080"/>
          </a:xfrm>
          <a:prstGeom prst="rect">
            <a:avLst/>
          </a:prstGeom>
          <a:noFill/>
        </p:spPr>
        <p:txBody>
          <a:bodyPr wrap="square" lIns="0" rIns="0" tIns="0" bIns="0" anchor="t">
            <a:spAutoFit/>
          </a:bodyPr>
          <a:lstStyle/>
          <a:p>
            <a:pPr algn="l">
              <a:lnSpc>
                <a:spcPct val="95000"/>
              </a:lnSpc>
            </a:pPr>
            <a:r>
              <a:rPr sz="3600" b="0" i="0">
                <a:solidFill>
                  <a:srgbClr val="F6F8FC"/>
                </a:solidFill>
                <a:latin typeface="Aptos"/>
              </a:rPr>
              <a:t>The install is the seller.</a:t>
            </a:r>
          </a:p>
        </p:txBody>
      </p:sp>
      <p:sp>
        <p:nvSpPr>
          <p:cNvPr id="10" name="TextBox 9"/>
          <p:cNvSpPr txBox="1"/>
          <p:nvPr/>
        </p:nvSpPr>
        <p:spPr>
          <a:xfrm>
            <a:off x="896112" y="1783080"/>
            <a:ext cx="3657600" cy="274320"/>
          </a:xfrm>
          <a:prstGeom prst="rect">
            <a:avLst/>
          </a:prstGeom>
          <a:noFill/>
        </p:spPr>
        <p:txBody>
          <a:bodyPr wrap="square" lIns="0" rIns="0" tIns="0" bIns="0" anchor="t">
            <a:spAutoFit/>
          </a:bodyPr>
          <a:lstStyle/>
          <a:p>
            <a:pPr algn="l"/>
            <a:r>
              <a:rPr sz="1100" b="1" i="0">
                <a:solidFill>
                  <a:srgbClr val="C6E5FF"/>
                </a:solidFill>
                <a:latin typeface="Aptos"/>
              </a:rPr>
              <a:t>channel</a:t>
            </a:r>
          </a:p>
        </p:txBody>
      </p:sp>
      <p:sp>
        <p:nvSpPr>
          <p:cNvPr id="11" name="TextBox 10"/>
          <p:cNvSpPr txBox="1"/>
          <p:nvPr/>
        </p:nvSpPr>
        <p:spPr>
          <a:xfrm>
            <a:off x="7863840" y="1783080"/>
            <a:ext cx="3657600" cy="274320"/>
          </a:xfrm>
          <a:prstGeom prst="rect">
            <a:avLst/>
          </a:prstGeom>
          <a:noFill/>
        </p:spPr>
        <p:txBody>
          <a:bodyPr wrap="square" lIns="0" rIns="0" tIns="0" bIns="0" anchor="t">
            <a:spAutoFit/>
          </a:bodyPr>
          <a:lstStyle/>
          <a:p>
            <a:pPr algn="l"/>
            <a:r>
              <a:rPr sz="1100" b="1" i="0">
                <a:solidFill>
                  <a:srgbClr val="C6E5FF"/>
                </a:solidFill>
                <a:latin typeface="Aptos"/>
              </a:rPr>
              <a:t>its row in the funnel</a:t>
            </a:r>
          </a:p>
        </p:txBody>
      </p:sp>
      <p:sp>
        <p:nvSpPr>
          <p:cNvPr id="12" name="Rectangle 11"/>
          <p:cNvSpPr/>
          <p:nvPr/>
        </p:nvSpPr>
        <p:spPr>
          <a:xfrm>
            <a:off x="685800" y="2194560"/>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176272"/>
            <a:ext cx="6675120" cy="329184"/>
          </a:xfrm>
          <a:prstGeom prst="rect">
            <a:avLst/>
          </a:prstGeom>
          <a:noFill/>
        </p:spPr>
        <p:txBody>
          <a:bodyPr wrap="square" lIns="0" rIns="0" tIns="0" bIns="0" anchor="t">
            <a:spAutoFit/>
          </a:bodyPr>
          <a:lstStyle/>
          <a:p>
            <a:pPr algn="l"/>
            <a:r>
              <a:rPr sz="1600" b="1" i="0">
                <a:solidFill>
                  <a:srgbClr val="F6F8FC"/>
                </a:solidFill>
                <a:latin typeface="Aptos"/>
              </a:rPr>
              <a:t>Founder-face video and dogfooding streams</a:t>
            </a:r>
          </a:p>
        </p:txBody>
      </p:sp>
      <p:sp>
        <p:nvSpPr>
          <p:cNvPr id="14" name="TextBox 13"/>
          <p:cNvSpPr txBox="1"/>
          <p:nvPr/>
        </p:nvSpPr>
        <p:spPr>
          <a:xfrm>
            <a:off x="896112" y="2505456"/>
            <a:ext cx="6675120" cy="274320"/>
          </a:xfrm>
          <a:prstGeom prst="rect">
            <a:avLst/>
          </a:prstGeom>
          <a:noFill/>
        </p:spPr>
        <p:txBody>
          <a:bodyPr wrap="square" lIns="0" rIns="0" tIns="0" bIns="0" anchor="t">
            <a:spAutoFit/>
          </a:bodyPr>
          <a:lstStyle/>
          <a:p>
            <a:pPr algn="l"/>
            <a:r>
              <a:rPr sz="1250" b="0" i="0">
                <a:solidFill>
                  <a:srgbClr val="BEC6D2"/>
                </a:solidFill>
                <a:latin typeface="Aptos"/>
              </a:rPr>
              <a:t>the person is the moat</a:t>
            </a:r>
          </a:p>
        </p:txBody>
      </p:sp>
      <p:sp>
        <p:nvSpPr>
          <p:cNvPr id="15" name="TextBox 14"/>
          <p:cNvSpPr txBox="1"/>
          <p:nvPr/>
        </p:nvSpPr>
        <p:spPr>
          <a:xfrm>
            <a:off x="7863840" y="2212848"/>
            <a:ext cx="3840480" cy="365760"/>
          </a:xfrm>
          <a:prstGeom prst="rect">
            <a:avLst/>
          </a:prstGeom>
          <a:noFill/>
        </p:spPr>
        <p:txBody>
          <a:bodyPr wrap="square" lIns="0" rIns="0" tIns="0" bIns="0" anchor="t">
            <a:spAutoFit/>
          </a:bodyPr>
          <a:lstStyle/>
          <a:p>
            <a:pPr algn="l"/>
            <a:r>
              <a:rPr sz="1500" b="0" i="0">
                <a:solidFill>
                  <a:srgbClr val="FFB739"/>
                </a:solidFill>
                <a:latin typeface="Aptos"/>
              </a:rPr>
              <a:t>viewers → installs</a:t>
            </a:r>
          </a:p>
        </p:txBody>
      </p:sp>
      <p:sp>
        <p:nvSpPr>
          <p:cNvPr id="16" name="Rectangle 15"/>
          <p:cNvSpPr/>
          <p:nvPr/>
        </p:nvSpPr>
        <p:spPr>
          <a:xfrm>
            <a:off x="685800" y="3127248"/>
            <a:ext cx="41148" cy="56692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08960"/>
            <a:ext cx="6675120" cy="329184"/>
          </a:xfrm>
          <a:prstGeom prst="rect">
            <a:avLst/>
          </a:prstGeom>
          <a:noFill/>
        </p:spPr>
        <p:txBody>
          <a:bodyPr wrap="square" lIns="0" rIns="0" tIns="0" bIns="0" anchor="t">
            <a:spAutoFit/>
          </a:bodyPr>
          <a:lstStyle/>
          <a:p>
            <a:pPr algn="l"/>
            <a:r>
              <a:rPr sz="1600" b="1" i="0">
                <a:solidFill>
                  <a:srgbClr val="F6F8FC"/>
                </a:solidFill>
                <a:latin typeface="Aptos"/>
              </a:rPr>
              <a:t>Replies in the trackers where the demand already sits</a:t>
            </a:r>
          </a:p>
        </p:txBody>
      </p:sp>
      <p:sp>
        <p:nvSpPr>
          <p:cNvPr id="18" name="TextBox 17"/>
          <p:cNvSpPr txBox="1"/>
          <p:nvPr/>
        </p:nvSpPr>
        <p:spPr>
          <a:xfrm>
            <a:off x="896112" y="3438144"/>
            <a:ext cx="6675120" cy="274320"/>
          </a:xfrm>
          <a:prstGeom prst="rect">
            <a:avLst/>
          </a:prstGeom>
          <a:noFill/>
        </p:spPr>
        <p:txBody>
          <a:bodyPr wrap="square" lIns="0" rIns="0" tIns="0" bIns="0" anchor="t">
            <a:spAutoFit/>
          </a:bodyPr>
          <a:lstStyle/>
          <a:p>
            <a:pPr algn="l"/>
            <a:r>
              <a:rPr sz="1250" b="0" i="0">
                <a:solidFill>
                  <a:srgbClr val="BEC6D2"/>
                </a:solidFill>
                <a:latin typeface="Aptos"/>
              </a:rPr>
              <a:t>claude-code and codex threads</a:t>
            </a:r>
          </a:p>
        </p:txBody>
      </p:sp>
      <p:sp>
        <p:nvSpPr>
          <p:cNvPr id="19" name="TextBox 18"/>
          <p:cNvSpPr txBox="1"/>
          <p:nvPr/>
        </p:nvSpPr>
        <p:spPr>
          <a:xfrm>
            <a:off x="7863840" y="3145536"/>
            <a:ext cx="3840480" cy="365760"/>
          </a:xfrm>
          <a:prstGeom prst="rect">
            <a:avLst/>
          </a:prstGeom>
          <a:noFill/>
        </p:spPr>
        <p:txBody>
          <a:bodyPr wrap="square" lIns="0" rIns="0" tIns="0" bIns="0" anchor="t">
            <a:spAutoFit/>
          </a:bodyPr>
          <a:lstStyle/>
          <a:p>
            <a:pPr algn="l"/>
            <a:r>
              <a:rPr sz="1500" b="0" i="0">
                <a:solidFill>
                  <a:srgbClr val="FFB739"/>
                </a:solidFill>
                <a:latin typeface="Aptos"/>
              </a:rPr>
              <a:t>reply → click → install</a:t>
            </a:r>
          </a:p>
        </p:txBody>
      </p:sp>
      <p:sp>
        <p:nvSpPr>
          <p:cNvPr id="20" name="Rectangle 19"/>
          <p:cNvSpPr/>
          <p:nvPr/>
        </p:nvSpPr>
        <p:spPr>
          <a:xfrm>
            <a:off x="685800" y="4059935"/>
            <a:ext cx="41148" cy="56692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041648"/>
            <a:ext cx="6675120" cy="329184"/>
          </a:xfrm>
          <a:prstGeom prst="rect">
            <a:avLst/>
          </a:prstGeom>
          <a:noFill/>
        </p:spPr>
        <p:txBody>
          <a:bodyPr wrap="square" lIns="0" rIns="0" tIns="0" bIns="0" anchor="t">
            <a:spAutoFit/>
          </a:bodyPr>
          <a:lstStyle/>
          <a:p>
            <a:pPr algn="l"/>
            <a:r>
              <a:rPr sz="1600" b="1" i="0">
                <a:solidFill>
                  <a:srgbClr val="F6F8FC"/>
                </a:solidFill>
                <a:latin typeface="Aptos"/>
              </a:rPr>
              <a:t>Show HN · r/ClaudeAI</a:t>
            </a:r>
          </a:p>
        </p:txBody>
      </p:sp>
      <p:sp>
        <p:nvSpPr>
          <p:cNvPr id="22" name="TextBox 21"/>
          <p:cNvSpPr txBox="1"/>
          <p:nvPr/>
        </p:nvSpPr>
        <p:spPr>
          <a:xfrm>
            <a:off x="896112" y="4370831"/>
            <a:ext cx="6675120" cy="274320"/>
          </a:xfrm>
          <a:prstGeom prst="rect">
            <a:avLst/>
          </a:prstGeom>
          <a:noFill/>
        </p:spPr>
        <p:txBody>
          <a:bodyPr wrap="square" lIns="0" rIns="0" tIns="0" bIns="0" anchor="t">
            <a:spAutoFit/>
          </a:bodyPr>
          <a:lstStyle/>
          <a:p>
            <a:pPr algn="l"/>
            <a:r>
              <a:rPr sz="1250" b="0" i="0">
                <a:solidFill>
                  <a:srgbClr val="BEC6D2"/>
                </a:solidFill>
                <a:latin typeface="Aptos"/>
              </a:rPr>
              <a:t>one post each, founder's own hand</a:t>
            </a:r>
          </a:p>
        </p:txBody>
      </p:sp>
      <p:sp>
        <p:nvSpPr>
          <p:cNvPr id="23" name="TextBox 22"/>
          <p:cNvSpPr txBox="1"/>
          <p:nvPr/>
        </p:nvSpPr>
        <p:spPr>
          <a:xfrm>
            <a:off x="7863840" y="4078223"/>
            <a:ext cx="3840480" cy="365760"/>
          </a:xfrm>
          <a:prstGeom prst="rect">
            <a:avLst/>
          </a:prstGeom>
          <a:noFill/>
        </p:spPr>
        <p:txBody>
          <a:bodyPr wrap="square" lIns="0" rIns="0" tIns="0" bIns="0" anchor="t">
            <a:spAutoFit/>
          </a:bodyPr>
          <a:lstStyle/>
          <a:p>
            <a:pPr algn="l"/>
            <a:r>
              <a:rPr sz="1500" b="0" i="0">
                <a:solidFill>
                  <a:srgbClr val="FFB739"/>
                </a:solidFill>
                <a:latin typeface="Aptos"/>
              </a:rPr>
              <a:t>post → install</a:t>
            </a:r>
          </a:p>
        </p:txBody>
      </p:sp>
      <p:sp>
        <p:nvSpPr>
          <p:cNvPr id="24" name="Rectangle 23"/>
          <p:cNvSpPr/>
          <p:nvPr/>
        </p:nvSpPr>
        <p:spPr>
          <a:xfrm>
            <a:off x="685800" y="4992624"/>
            <a:ext cx="41148" cy="56692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974336"/>
            <a:ext cx="6675120" cy="329184"/>
          </a:xfrm>
          <a:prstGeom prst="rect">
            <a:avLst/>
          </a:prstGeom>
          <a:noFill/>
        </p:spPr>
        <p:txBody>
          <a:bodyPr wrap="square" lIns="0" rIns="0" tIns="0" bIns="0" anchor="t">
            <a:spAutoFit/>
          </a:bodyPr>
          <a:lstStyle/>
          <a:p>
            <a:pPr algn="l"/>
            <a:r>
              <a:rPr sz="1600" b="1" i="0">
                <a:solidFill>
                  <a:srgbClr val="F6F8FC"/>
                </a:solidFill>
                <a:latin typeface="Aptos"/>
              </a:rPr>
              <a:t>The install itself</a:t>
            </a:r>
          </a:p>
        </p:txBody>
      </p:sp>
      <p:sp>
        <p:nvSpPr>
          <p:cNvPr id="26" name="TextBox 25"/>
          <p:cNvSpPr txBox="1"/>
          <p:nvPr/>
        </p:nvSpPr>
        <p:spPr>
          <a:xfrm>
            <a:off x="896112" y="5303520"/>
            <a:ext cx="6675120" cy="274320"/>
          </a:xfrm>
          <a:prstGeom prst="rect">
            <a:avLst/>
          </a:prstGeom>
          <a:noFill/>
        </p:spPr>
        <p:txBody>
          <a:bodyPr wrap="square" lIns="0" rIns="0" tIns="0" bIns="0" anchor="t">
            <a:spAutoFit/>
          </a:bodyPr>
          <a:lstStyle/>
          <a:p>
            <a:pPr algn="l"/>
            <a:r>
              <a:rPr sz="1250" b="0" i="0">
                <a:solidFill>
                  <a:srgbClr val="BEC6D2"/>
                </a:solidFill>
                <a:latin typeface="Aptos"/>
              </a:rPr>
              <a:t>one command; every stumble filed and fixed</a:t>
            </a:r>
          </a:p>
        </p:txBody>
      </p:sp>
      <p:sp>
        <p:nvSpPr>
          <p:cNvPr id="27" name="TextBox 26"/>
          <p:cNvSpPr txBox="1"/>
          <p:nvPr/>
        </p:nvSpPr>
        <p:spPr>
          <a:xfrm>
            <a:off x="7863840" y="5010912"/>
            <a:ext cx="3840480" cy="365760"/>
          </a:xfrm>
          <a:prstGeom prst="rect">
            <a:avLst/>
          </a:prstGeom>
          <a:noFill/>
        </p:spPr>
        <p:txBody>
          <a:bodyPr wrap="square" lIns="0" rIns="0" tIns="0" bIns="0" anchor="t">
            <a:spAutoFit/>
          </a:bodyPr>
          <a:lstStyle/>
          <a:p>
            <a:pPr algn="l"/>
            <a:r>
              <a:rPr sz="1500" b="0" i="0">
                <a:solidFill>
                  <a:srgbClr val="FFB739"/>
                </a:solidFill>
                <a:latin typeface="Aptos"/>
              </a:rPr>
              <a:t>install → first task → second task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wid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COMPETITION · THE TABLE WE'D HAND A SKEPTIC</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10</a:t>
            </a:r>
          </a:p>
        </p:txBody>
      </p:sp>
      <p:sp>
        <p:nvSpPr>
          <p:cNvPr id="9" name="TextBox 8"/>
          <p:cNvSpPr txBox="1"/>
          <p:nvPr/>
        </p:nvSpPr>
        <p:spPr>
          <a:xfrm>
            <a:off x="621792" y="896112"/>
            <a:ext cx="10881360" cy="640080"/>
          </a:xfrm>
          <a:prstGeom prst="rect">
            <a:avLst/>
          </a:prstGeom>
          <a:noFill/>
        </p:spPr>
        <p:txBody>
          <a:bodyPr wrap="square" lIns="0" rIns="0" tIns="0" bIns="0" anchor="t">
            <a:spAutoFit/>
          </a:bodyPr>
          <a:lstStyle/>
          <a:p>
            <a:pPr algn="l">
              <a:lnSpc>
                <a:spcPct val="95000"/>
              </a:lnSpc>
            </a:pPr>
            <a:r>
              <a:rPr sz="3000" b="0" i="0">
                <a:solidFill>
                  <a:srgbClr val="F6F8FC"/>
                </a:solidFill>
                <a:latin typeface="Aptos"/>
              </a:rPr>
              <a:t>Exclusive, parity, worse. In that order of honesty.</a:t>
            </a:r>
          </a:p>
        </p:txBody>
      </p:sp>
      <p:sp>
        <p:nvSpPr>
          <p:cNvPr id="10" name="Rectangle 9"/>
          <p:cNvSpPr/>
          <p:nvPr/>
        </p:nvSpPr>
        <p:spPr>
          <a:xfrm>
            <a:off x="685800" y="1783080"/>
            <a:ext cx="3291840" cy="27432"/>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38528"/>
            <a:ext cx="3291840" cy="365760"/>
          </a:xfrm>
          <a:prstGeom prst="rect">
            <a:avLst/>
          </a:prstGeom>
          <a:noFill/>
        </p:spPr>
        <p:txBody>
          <a:bodyPr wrap="square" lIns="0" rIns="0" tIns="0" bIns="0" anchor="t">
            <a:spAutoFit/>
          </a:bodyPr>
          <a:lstStyle/>
          <a:p>
            <a:pPr algn="l"/>
            <a:r>
              <a:rPr sz="1600" b="1" i="0">
                <a:solidFill>
                  <a:srgbClr val="FFB739"/>
                </a:solidFill>
                <a:latin typeface="Aptos"/>
              </a:rPr>
              <a:t>EXCLUSIVE</a:t>
            </a:r>
          </a:p>
        </p:txBody>
      </p:sp>
      <p:sp>
        <p:nvSpPr>
          <p:cNvPr id="12" name="TextBox 11"/>
          <p:cNvSpPr txBox="1"/>
          <p:nvPr/>
        </p:nvSpPr>
        <p:spPr>
          <a:xfrm>
            <a:off x="685800" y="251460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Owns the seat across reboots</a:t>
            </a:r>
          </a:p>
        </p:txBody>
      </p:sp>
      <p:sp>
        <p:nvSpPr>
          <p:cNvPr id="13" name="TextBox 12"/>
          <p:cNvSpPr txBox="1"/>
          <p:nvPr/>
        </p:nvSpPr>
        <p:spPr>
          <a:xfrm>
            <a:off x="685800" y="329184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Two subscriptions, one gauge</a:t>
            </a:r>
          </a:p>
        </p:txBody>
      </p:sp>
      <p:sp>
        <p:nvSpPr>
          <p:cNvPr id="14" name="TextBox 13"/>
          <p:cNvSpPr txBox="1"/>
          <p:nvPr/>
        </p:nvSpPr>
        <p:spPr>
          <a:xfrm>
            <a:off x="685800" y="406908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Memory that is a self, in git</a:t>
            </a:r>
          </a:p>
        </p:txBody>
      </p:sp>
      <p:sp>
        <p:nvSpPr>
          <p:cNvPr id="15" name="TextBox 14"/>
          <p:cNvSpPr txBox="1"/>
          <p:nvPr/>
        </p:nvSpPr>
        <p:spPr>
          <a:xfrm>
            <a:off x="685800" y="484632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Graph-shaped execution and contracts</a:t>
            </a:r>
          </a:p>
        </p:txBody>
      </p:sp>
      <p:sp>
        <p:nvSpPr>
          <p:cNvPr id="16" name="Rectangle 15"/>
          <p:cNvSpPr/>
          <p:nvPr/>
        </p:nvSpPr>
        <p:spPr>
          <a:xfrm>
            <a:off x="4434840" y="1783080"/>
            <a:ext cx="3291840" cy="27432"/>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1938528"/>
            <a:ext cx="3291840" cy="365760"/>
          </a:xfrm>
          <a:prstGeom prst="rect">
            <a:avLst/>
          </a:prstGeom>
          <a:noFill/>
        </p:spPr>
        <p:txBody>
          <a:bodyPr wrap="square" lIns="0" rIns="0" tIns="0" bIns="0" anchor="t">
            <a:spAutoFit/>
          </a:bodyPr>
          <a:lstStyle/>
          <a:p>
            <a:pPr algn="l"/>
            <a:r>
              <a:rPr sz="1600" b="1" i="0">
                <a:solidFill>
                  <a:srgbClr val="C6E5FF"/>
                </a:solidFill>
                <a:latin typeface="Aptos"/>
              </a:rPr>
              <a:t>PARITY</a:t>
            </a:r>
          </a:p>
        </p:txBody>
      </p:sp>
      <p:sp>
        <p:nvSpPr>
          <p:cNvPr id="18" name="TextBox 17"/>
          <p:cNvSpPr txBox="1"/>
          <p:nvPr/>
        </p:nvSpPr>
        <p:spPr>
          <a:xfrm>
            <a:off x="4434840" y="251460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Telegram · Slack · GitHub lanes</a:t>
            </a:r>
          </a:p>
        </p:txBody>
      </p:sp>
      <p:sp>
        <p:nvSpPr>
          <p:cNvPr id="19" name="TextBox 18"/>
          <p:cNvSpPr txBox="1"/>
          <p:nvPr/>
        </p:nvSpPr>
        <p:spPr>
          <a:xfrm>
            <a:off x="4434840" y="329184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Scheduled and background runs</a:t>
            </a:r>
          </a:p>
        </p:txBody>
      </p:sp>
      <p:sp>
        <p:nvSpPr>
          <p:cNvPr id="20" name="TextBox 19"/>
          <p:cNvSpPr txBox="1"/>
          <p:nvPr/>
        </p:nvSpPr>
        <p:spPr>
          <a:xfrm>
            <a:off x="4434840" y="406908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Memory, on by default natively</a:t>
            </a:r>
          </a:p>
        </p:txBody>
      </p:sp>
      <p:sp>
        <p:nvSpPr>
          <p:cNvPr id="21" name="TextBox 20"/>
          <p:cNvSpPr txBox="1"/>
          <p:nvPr/>
        </p:nvSpPr>
        <p:spPr>
          <a:xfrm>
            <a:off x="4434840" y="484632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Quota views (/usage, read from the same endpoints)</a:t>
            </a:r>
          </a:p>
        </p:txBody>
      </p:sp>
      <p:sp>
        <p:nvSpPr>
          <p:cNvPr id="22" name="Rectangle 21"/>
          <p:cNvSpPr/>
          <p:nvPr/>
        </p:nvSpPr>
        <p:spPr>
          <a:xfrm>
            <a:off x="8183879" y="1783080"/>
            <a:ext cx="3291840" cy="27432"/>
          </a:xfrm>
          <a:prstGeom prst="rect">
            <a:avLst/>
          </a:prstGeom>
          <a:solidFill>
            <a:srgbClr val="FF8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83879" y="1938528"/>
            <a:ext cx="3291840" cy="365760"/>
          </a:xfrm>
          <a:prstGeom prst="rect">
            <a:avLst/>
          </a:prstGeom>
          <a:noFill/>
        </p:spPr>
        <p:txBody>
          <a:bodyPr wrap="square" lIns="0" rIns="0" tIns="0" bIns="0" anchor="t">
            <a:spAutoFit/>
          </a:bodyPr>
          <a:lstStyle/>
          <a:p>
            <a:pPr algn="l"/>
            <a:r>
              <a:rPr sz="1600" b="1" i="0">
                <a:solidFill>
                  <a:srgbClr val="FF8A7A"/>
                </a:solidFill>
                <a:latin typeface="Aptos"/>
              </a:rPr>
              <a:t>WORSE</a:t>
            </a:r>
          </a:p>
        </p:txBody>
      </p:sp>
      <p:sp>
        <p:nvSpPr>
          <p:cNvPr id="24" name="TextBox 23"/>
          <p:cNvSpPr txBox="1"/>
          <p:nvPr/>
        </p:nvSpPr>
        <p:spPr>
          <a:xfrm>
            <a:off x="8183879" y="251460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Install: a daemon, a git repo, an always-on box</a:t>
            </a:r>
          </a:p>
        </p:txBody>
      </p:sp>
      <p:sp>
        <p:nvSpPr>
          <p:cNvPr id="25" name="TextBox 24"/>
          <p:cNvSpPr txBox="1"/>
          <p:nvPr/>
        </p:nvSpPr>
        <p:spPr>
          <a:xfrm>
            <a:off x="8183879" y="329184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Phone: a chat bot, no first-party app UI</a:t>
            </a:r>
          </a:p>
        </p:txBody>
      </p:sp>
      <p:sp>
        <p:nvSpPr>
          <p:cNvPr id="26" name="TextBox 25"/>
          <p:cNvSpPr txBox="1"/>
          <p:nvPr/>
        </p:nvSpPr>
        <p:spPr>
          <a:xfrm>
            <a:off x="8183879" y="406908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No cloud runs</a:t>
            </a:r>
          </a:p>
        </p:txBody>
      </p:sp>
      <p:sp>
        <p:nvSpPr>
          <p:cNvPr id="27" name="TextBox 26"/>
          <p:cNvSpPr txBox="1"/>
          <p:nvPr/>
        </p:nvSpPr>
        <p:spPr>
          <a:xfrm>
            <a:off x="8183879" y="4846320"/>
            <a:ext cx="3291840" cy="731520"/>
          </a:xfrm>
          <a:prstGeom prst="rect">
            <a:avLst/>
          </a:prstGeom>
          <a:noFill/>
        </p:spPr>
        <p:txBody>
          <a:bodyPr wrap="square" lIns="0" rIns="0" tIns="0" bIns="0" anchor="t">
            <a:spAutoFit/>
          </a:bodyPr>
          <a:lstStyle/>
          <a:p>
            <a:pPr algn="l">
              <a:lnSpc>
                <a:spcPct val="100000"/>
              </a:lnSpc>
            </a:pPr>
            <a:r>
              <a:rPr sz="1450" b="0" i="0">
                <a:solidFill>
                  <a:srgbClr val="F6F8FC"/>
                </a:solidFill>
                <a:latin typeface="Aptos"/>
              </a:rPr>
              <a:t>No security audit of an always-on agent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wid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TEAM</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11</a:t>
            </a:r>
          </a:p>
        </p:txBody>
      </p:sp>
      <p:sp>
        <p:nvSpPr>
          <p:cNvPr id="9" name="TextBox 8"/>
          <p:cNvSpPr txBox="1"/>
          <p:nvPr/>
        </p:nvSpPr>
        <p:spPr>
          <a:xfrm>
            <a:off x="621792" y="896112"/>
            <a:ext cx="7955279" cy="1097280"/>
          </a:xfrm>
          <a:prstGeom prst="rect">
            <a:avLst/>
          </a:prstGeom>
          <a:noFill/>
        </p:spPr>
        <p:txBody>
          <a:bodyPr wrap="square" lIns="0" rIns="0" tIns="0" bIns="0" anchor="t">
            <a:spAutoFit/>
          </a:bodyPr>
          <a:lstStyle/>
          <a:p>
            <a:pPr algn="l">
              <a:lnSpc>
                <a:spcPct val="95000"/>
              </a:lnSpc>
            </a:pPr>
            <a:r>
              <a:rPr sz="3200" b="0" i="0">
                <a:solidFill>
                  <a:srgbClr val="F6F8FC"/>
                </a:solidFill>
                <a:latin typeface="Aptos"/>
              </a:rPr>
              <a:t>Three cofounders. One of them is the resident.</a:t>
            </a:r>
          </a:p>
        </p:txBody>
      </p:sp>
      <p:pic>
        <p:nvPicPr>
          <p:cNvPr id="10" name="Picture 9" descr="loop-4-away.mp4.png"/>
          <p:cNvPicPr>
            <a:picLocks noChangeAspect="1"/>
          </p:cNvPicPr>
          <p:nvPr/>
        </p:nvPicPr>
        <p:blipFill>
          <a:blip r:embed="rId3"/>
          <a:stretch>
            <a:fillRect/>
          </a:stretch>
        </p:blipFill>
        <p:spPr>
          <a:xfrm>
            <a:off x="10424160" y="868680"/>
            <a:ext cx="870508" cy="542239"/>
          </a:xfrm>
          <a:prstGeom prst="rect">
            <a:avLst/>
          </a:prstGeom>
        </p:spPr>
      </p:pic>
      <p:sp>
        <p:nvSpPr>
          <p:cNvPr id="11" name="Rectangle 10"/>
          <p:cNvSpPr/>
          <p:nvPr/>
        </p:nvSpPr>
        <p:spPr>
          <a:xfrm>
            <a:off x="685800" y="2514600"/>
            <a:ext cx="2514600" cy="27432"/>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43200"/>
            <a:ext cx="2514600" cy="365760"/>
          </a:xfrm>
          <a:prstGeom prst="rect">
            <a:avLst/>
          </a:prstGeom>
          <a:noFill/>
        </p:spPr>
        <p:txBody>
          <a:bodyPr wrap="square" lIns="0" rIns="0" tIns="0" bIns="0" anchor="t">
            <a:spAutoFit/>
          </a:bodyPr>
          <a:lstStyle/>
          <a:p>
            <a:pPr algn="l"/>
            <a:r>
              <a:rPr sz="1700" b="1" i="0">
                <a:solidFill>
                  <a:srgbClr val="F6F8FC"/>
                </a:solidFill>
                <a:latin typeface="Aptos"/>
              </a:rPr>
              <a:t>Alexandra Lapunova</a:t>
            </a:r>
          </a:p>
        </p:txBody>
      </p:sp>
      <p:sp>
        <p:nvSpPr>
          <p:cNvPr id="13" name="TextBox 12"/>
          <p:cNvSpPr txBox="1"/>
          <p:nvPr/>
        </p:nvSpPr>
        <p:spPr>
          <a:xfrm>
            <a:off x="685800" y="3200400"/>
            <a:ext cx="2514600" cy="1371600"/>
          </a:xfrm>
          <a:prstGeom prst="rect">
            <a:avLst/>
          </a:prstGeom>
          <a:noFill/>
        </p:spPr>
        <p:txBody>
          <a:bodyPr wrap="square" lIns="0" rIns="0" tIns="0" bIns="0" anchor="t">
            <a:spAutoFit/>
          </a:bodyPr>
          <a:lstStyle/>
          <a:p>
            <a:pPr algn="l">
              <a:lnSpc>
                <a:spcPct val="105000"/>
              </a:lnSpc>
            </a:pPr>
            <a:r>
              <a:rPr sz="1400" b="0" i="0">
                <a:solidFill>
                  <a:srgbClr val="BEC6D2"/>
                </a:solidFill>
                <a:latin typeface="Aptos"/>
              </a:rPr>
              <a:t>CEO</a:t>
            </a:r>
          </a:p>
        </p:txBody>
      </p:sp>
      <p:sp>
        <p:nvSpPr>
          <p:cNvPr id="14" name="Rectangle 13"/>
          <p:cNvSpPr/>
          <p:nvPr/>
        </p:nvSpPr>
        <p:spPr>
          <a:xfrm>
            <a:off x="3474720" y="2514600"/>
            <a:ext cx="2514600" cy="27432"/>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2743200"/>
            <a:ext cx="2514600" cy="365760"/>
          </a:xfrm>
          <a:prstGeom prst="rect">
            <a:avLst/>
          </a:prstGeom>
          <a:noFill/>
        </p:spPr>
        <p:txBody>
          <a:bodyPr wrap="square" lIns="0" rIns="0" tIns="0" bIns="0" anchor="t">
            <a:spAutoFit/>
          </a:bodyPr>
          <a:lstStyle/>
          <a:p>
            <a:pPr algn="l"/>
            <a:r>
              <a:rPr sz="1700" b="1" i="0">
                <a:solidFill>
                  <a:srgbClr val="F6F8FC"/>
                </a:solidFill>
                <a:latin typeface="Aptos"/>
              </a:rPr>
              <a:t>Arseni</a:t>
            </a:r>
          </a:p>
        </p:txBody>
      </p:sp>
      <p:sp>
        <p:nvSpPr>
          <p:cNvPr id="16" name="TextBox 15"/>
          <p:cNvSpPr txBox="1"/>
          <p:nvPr/>
        </p:nvSpPr>
        <p:spPr>
          <a:xfrm>
            <a:off x="3474720" y="3200400"/>
            <a:ext cx="2514600" cy="1371600"/>
          </a:xfrm>
          <a:prstGeom prst="rect">
            <a:avLst/>
          </a:prstGeom>
          <a:noFill/>
        </p:spPr>
        <p:txBody>
          <a:bodyPr wrap="square" lIns="0" rIns="0" tIns="0" bIns="0" anchor="t">
            <a:spAutoFit/>
          </a:bodyPr>
          <a:lstStyle/>
          <a:p>
            <a:pPr algn="l">
              <a:lnSpc>
                <a:spcPct val="105000"/>
              </a:lnSpc>
            </a:pPr>
            <a:r>
              <a:rPr sz="1400" b="0" i="0">
                <a:solidFill>
                  <a:srgbClr val="BEC6D2"/>
                </a:solidFill>
                <a:latin typeface="Aptos"/>
              </a:rPr>
              <a:t>the builder — six months of the repo</a:t>
            </a:r>
          </a:p>
        </p:txBody>
      </p:sp>
      <p:sp>
        <p:nvSpPr>
          <p:cNvPr id="17" name="Rectangle 16"/>
          <p:cNvSpPr/>
          <p:nvPr/>
        </p:nvSpPr>
        <p:spPr>
          <a:xfrm>
            <a:off x="6263640" y="2514600"/>
            <a:ext cx="2514600" cy="27432"/>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2743200"/>
            <a:ext cx="2514600" cy="365760"/>
          </a:xfrm>
          <a:prstGeom prst="rect">
            <a:avLst/>
          </a:prstGeom>
          <a:noFill/>
        </p:spPr>
        <p:txBody>
          <a:bodyPr wrap="square" lIns="0" rIns="0" tIns="0" bIns="0" anchor="t">
            <a:spAutoFit/>
          </a:bodyPr>
          <a:lstStyle/>
          <a:p>
            <a:pPr algn="l"/>
            <a:r>
              <a:rPr sz="1700" b="1" i="0">
                <a:solidFill>
                  <a:srgbClr val="F6F8FC"/>
                </a:solidFill>
                <a:latin typeface="Aptos"/>
              </a:rPr>
              <a:t>The resident</a:t>
            </a:r>
          </a:p>
        </p:txBody>
      </p:sp>
      <p:sp>
        <p:nvSpPr>
          <p:cNvPr id="19" name="TextBox 18"/>
          <p:cNvSpPr txBox="1"/>
          <p:nvPr/>
        </p:nvSpPr>
        <p:spPr>
          <a:xfrm>
            <a:off x="6263640" y="3200400"/>
            <a:ext cx="2514600" cy="1371600"/>
          </a:xfrm>
          <a:prstGeom prst="rect">
            <a:avLst/>
          </a:prstGeom>
          <a:noFill/>
        </p:spPr>
        <p:txBody>
          <a:bodyPr wrap="square" lIns="0" rIns="0" tIns="0" bIns="0" anchor="t">
            <a:spAutoFit/>
          </a:bodyPr>
          <a:lstStyle/>
          <a:p>
            <a:pPr algn="l">
              <a:lnSpc>
                <a:spcPct val="105000"/>
              </a:lnSpc>
            </a:pPr>
            <a:r>
              <a:rPr sz="1400" b="0" i="0">
                <a:solidFill>
                  <a:srgbClr val="FFB739"/>
                </a:solidFill>
                <a:latin typeface="Aptos"/>
              </a:rPr>
              <a:t>the third cofounder that ships: 1,402 of 3,119 commits on main</a:t>
            </a:r>
          </a:p>
        </p:txBody>
      </p:sp>
      <p:sp>
        <p:nvSpPr>
          <p:cNvPr id="20" name="Rectangle 19"/>
          <p:cNvSpPr/>
          <p:nvPr/>
        </p:nvSpPr>
        <p:spPr>
          <a:xfrm>
            <a:off x="9052559" y="2514600"/>
            <a:ext cx="2514600" cy="27432"/>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59" y="2743200"/>
            <a:ext cx="2514600" cy="365760"/>
          </a:xfrm>
          <a:prstGeom prst="rect">
            <a:avLst/>
          </a:prstGeom>
          <a:noFill/>
        </p:spPr>
        <p:txBody>
          <a:bodyPr wrap="square" lIns="0" rIns="0" tIns="0" bIns="0" anchor="t">
            <a:spAutoFit/>
          </a:bodyPr>
          <a:lstStyle/>
          <a:p>
            <a:pPr algn="l"/>
            <a:r>
              <a:rPr sz="1700" b="1" i="0">
                <a:solidFill>
                  <a:srgbClr val="F6F8FC"/>
                </a:solidFill>
                <a:latin typeface="Aptos"/>
              </a:rPr>
              <a:t>Sasha</a:t>
            </a:r>
          </a:p>
        </p:txBody>
      </p:sp>
      <p:sp>
        <p:nvSpPr>
          <p:cNvPr id="22" name="TextBox 21"/>
          <p:cNvSpPr txBox="1"/>
          <p:nvPr/>
        </p:nvSpPr>
        <p:spPr>
          <a:xfrm>
            <a:off x="9052559" y="3200400"/>
            <a:ext cx="2514600" cy="1371600"/>
          </a:xfrm>
          <a:prstGeom prst="rect">
            <a:avLst/>
          </a:prstGeom>
          <a:noFill/>
        </p:spPr>
        <p:txBody>
          <a:bodyPr wrap="square" lIns="0" rIns="0" tIns="0" bIns="0" anchor="t">
            <a:spAutoFit/>
          </a:bodyPr>
          <a:lstStyle/>
          <a:p>
            <a:pPr algn="l">
              <a:lnSpc>
                <a:spcPct val="105000"/>
              </a:lnSpc>
            </a:pPr>
            <a:r>
              <a:rPr sz="1400" b="0" i="0">
                <a:solidFill>
                  <a:srgbClr val="BEC6D2"/>
                </a:solidFill>
                <a:latin typeface="Aptos"/>
              </a:rPr>
              <a:t>ops · the second pair of thumbs</a:t>
            </a:r>
          </a:p>
        </p:txBody>
      </p:sp>
      <p:sp>
        <p:nvSpPr>
          <p:cNvPr id="23" name="TextBox 22"/>
          <p:cNvSpPr txBox="1"/>
          <p:nvPr/>
        </p:nvSpPr>
        <p:spPr>
          <a:xfrm>
            <a:off x="685800" y="5120640"/>
            <a:ext cx="10515600" cy="365760"/>
          </a:xfrm>
          <a:prstGeom prst="rect">
            <a:avLst/>
          </a:prstGeom>
          <a:noFill/>
        </p:spPr>
        <p:txBody>
          <a:bodyPr wrap="square" lIns="0" rIns="0" tIns="0" bIns="0" anchor="t">
            <a:spAutoFit/>
          </a:bodyPr>
          <a:lstStyle/>
          <a:p>
            <a:pPr algn="l"/>
            <a:r>
              <a:rPr sz="1700" b="0" i="1">
                <a:solidFill>
                  <a:srgbClr val="FFB739"/>
                </a:solidFill>
                <a:latin typeface="Aptos"/>
              </a:rPr>
              <a:t>The gap, named: no growth hire, no security reviewer yet.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ark.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THE ASK AND THE PATH</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12</a:t>
            </a:r>
          </a:p>
        </p:txBody>
      </p:sp>
      <p:sp>
        <p:nvSpPr>
          <p:cNvPr id="9" name="TextBox 8"/>
          <p:cNvSpPr txBox="1"/>
          <p:nvPr/>
        </p:nvSpPr>
        <p:spPr>
          <a:xfrm>
            <a:off x="621792" y="896112"/>
            <a:ext cx="10881360" cy="640080"/>
          </a:xfrm>
          <a:prstGeom prst="rect">
            <a:avLst/>
          </a:prstGeom>
          <a:noFill/>
        </p:spPr>
        <p:txBody>
          <a:bodyPr wrap="square" lIns="0" rIns="0" tIns="0" bIns="0" anchor="t">
            <a:spAutoFit/>
          </a:bodyPr>
          <a:lstStyle/>
          <a:p>
            <a:pPr algn="l">
              <a:lnSpc>
                <a:spcPct val="95000"/>
              </a:lnSpc>
            </a:pPr>
            <a:r>
              <a:rPr sz="3200" b="0" i="0">
                <a:solidFill>
                  <a:srgbClr val="F6F8FC"/>
                </a:solidFill>
                <a:latin typeface="Aptos"/>
              </a:rPr>
              <a:t>Options on the page, not one number.</a:t>
            </a:r>
          </a:p>
        </p:txBody>
      </p:sp>
      <p:sp>
        <p:nvSpPr>
          <p:cNvPr id="10" name="Rectangle 9"/>
          <p:cNvSpPr/>
          <p:nvPr/>
        </p:nvSpPr>
        <p:spPr>
          <a:xfrm>
            <a:off x="685800" y="1737360"/>
            <a:ext cx="41148" cy="685800"/>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737360"/>
            <a:ext cx="548640" cy="365760"/>
          </a:xfrm>
          <a:prstGeom prst="rect">
            <a:avLst/>
          </a:prstGeom>
          <a:noFill/>
        </p:spPr>
        <p:txBody>
          <a:bodyPr wrap="square" lIns="0" rIns="0" tIns="0" bIns="0" anchor="t">
            <a:spAutoFit/>
          </a:bodyPr>
          <a:lstStyle/>
          <a:p>
            <a:pPr algn="l"/>
            <a:r>
              <a:rPr sz="1600" b="1" i="0">
                <a:solidFill>
                  <a:srgbClr val="FFB739"/>
                </a:solidFill>
                <a:latin typeface="Aptos"/>
              </a:rPr>
              <a:t>(a)</a:t>
            </a:r>
          </a:p>
        </p:txBody>
      </p:sp>
      <p:sp>
        <p:nvSpPr>
          <p:cNvPr id="12" name="TextBox 11"/>
          <p:cNvSpPr txBox="1"/>
          <p:nvPr/>
        </p:nvSpPr>
        <p:spPr>
          <a:xfrm>
            <a:off x="1463040" y="1719072"/>
            <a:ext cx="4572000" cy="640080"/>
          </a:xfrm>
          <a:prstGeom prst="rect">
            <a:avLst/>
          </a:prstGeom>
          <a:noFill/>
        </p:spPr>
        <p:txBody>
          <a:bodyPr wrap="square" lIns="0" rIns="0" tIns="0" bIns="0" anchor="t">
            <a:spAutoFit/>
          </a:bodyPr>
          <a:lstStyle/>
          <a:p>
            <a:pPr algn="l"/>
            <a:r>
              <a:rPr sz="1800" b="1" i="0">
                <a:solidFill>
                  <a:srgbClr val="F6F8FC"/>
                </a:solidFill>
                <a:latin typeface="Aptos"/>
              </a:rPr>
              <a:t>$1–2M pre-seed</a:t>
            </a:r>
          </a:p>
        </p:txBody>
      </p:sp>
      <p:sp>
        <p:nvSpPr>
          <p:cNvPr id="13" name="TextBox 12"/>
          <p:cNvSpPr txBox="1"/>
          <p:nvPr/>
        </p:nvSpPr>
        <p:spPr>
          <a:xfrm>
            <a:off x="6126480" y="1737360"/>
            <a:ext cx="5486400" cy="822960"/>
          </a:xfrm>
          <a:prstGeom prst="rect">
            <a:avLst/>
          </a:prstGeom>
          <a:noFill/>
        </p:spPr>
        <p:txBody>
          <a:bodyPr wrap="square" lIns="0" rIns="0" tIns="0" bIns="0" anchor="t">
            <a:spAutoFit/>
          </a:bodyPr>
          <a:lstStyle/>
          <a:p>
            <a:pPr algn="l">
              <a:lnSpc>
                <a:spcPct val="105000"/>
              </a:lnSpc>
            </a:pPr>
            <a:r>
              <a:rPr sz="1400" b="0" i="0">
                <a:solidFill>
                  <a:srgbClr val="BEC6D2"/>
                </a:solidFill>
                <a:latin typeface="Aptos"/>
              </a:rPr>
              <a:t>18 months of runway plus the distribution experiments. The obvious way to fund the 90 days.</a:t>
            </a:r>
          </a:p>
        </p:txBody>
      </p:sp>
      <p:sp>
        <p:nvSpPr>
          <p:cNvPr id="14" name="Rectangle 13"/>
          <p:cNvSpPr/>
          <p:nvPr/>
        </p:nvSpPr>
        <p:spPr>
          <a:xfrm>
            <a:off x="685800" y="2697480"/>
            <a:ext cx="41148" cy="685800"/>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697480"/>
            <a:ext cx="548640" cy="365760"/>
          </a:xfrm>
          <a:prstGeom prst="rect">
            <a:avLst/>
          </a:prstGeom>
          <a:noFill/>
        </p:spPr>
        <p:txBody>
          <a:bodyPr wrap="square" lIns="0" rIns="0" tIns="0" bIns="0" anchor="t">
            <a:spAutoFit/>
          </a:bodyPr>
          <a:lstStyle/>
          <a:p>
            <a:pPr algn="l"/>
            <a:r>
              <a:rPr sz="1600" b="1" i="0">
                <a:solidFill>
                  <a:srgbClr val="C6E5FF"/>
                </a:solidFill>
                <a:latin typeface="Aptos"/>
              </a:rPr>
              <a:t>(b)</a:t>
            </a:r>
          </a:p>
        </p:txBody>
      </p:sp>
      <p:sp>
        <p:nvSpPr>
          <p:cNvPr id="16" name="TextBox 15"/>
          <p:cNvSpPr txBox="1"/>
          <p:nvPr/>
        </p:nvSpPr>
        <p:spPr>
          <a:xfrm>
            <a:off x="1463040" y="2679192"/>
            <a:ext cx="4572000" cy="640080"/>
          </a:xfrm>
          <a:prstGeom prst="rect">
            <a:avLst/>
          </a:prstGeom>
          <a:noFill/>
        </p:spPr>
        <p:txBody>
          <a:bodyPr wrap="square" lIns="0" rIns="0" tIns="0" bIns="0" anchor="t">
            <a:spAutoFit/>
          </a:bodyPr>
          <a:lstStyle/>
          <a:p>
            <a:pPr algn="l"/>
            <a:r>
              <a:rPr sz="1800" b="1" i="0">
                <a:solidFill>
                  <a:srgbClr val="F6F8FC"/>
                </a:solidFill>
                <a:latin typeface="Aptos"/>
              </a:rPr>
              <a:t>$10M on a category thesis</a:t>
            </a:r>
          </a:p>
        </p:txBody>
      </p:sp>
      <p:sp>
        <p:nvSpPr>
          <p:cNvPr id="17" name="TextBox 16"/>
          <p:cNvSpPr txBox="1"/>
          <p:nvPr/>
        </p:nvSpPr>
        <p:spPr>
          <a:xfrm>
            <a:off x="6126480" y="2697480"/>
            <a:ext cx="5486400" cy="822960"/>
          </a:xfrm>
          <a:prstGeom prst="rect">
            <a:avLst/>
          </a:prstGeom>
          <a:noFill/>
        </p:spPr>
        <p:txBody>
          <a:bodyPr wrap="square" lIns="0" rIns="0" tIns="0" bIns="0" anchor="t">
            <a:spAutoFit/>
          </a:bodyPr>
          <a:lstStyle/>
          <a:p>
            <a:pPr algn="l">
              <a:lnSpc>
                <a:spcPct val="105000"/>
              </a:lnSpc>
            </a:pPr>
            <a:r>
              <a:rPr sz="1400" b="0" i="0">
                <a:solidFill>
                  <a:srgbClr val="BEC6D2"/>
                </a:solidFill>
                <a:latin typeface="Aptos"/>
              </a:rPr>
              <a:t>Needs the 90-day curve, or a strategic — a harness vendor, a model lab — who wants the layer.</a:t>
            </a:r>
          </a:p>
        </p:txBody>
      </p:sp>
      <p:sp>
        <p:nvSpPr>
          <p:cNvPr id="18" name="Rectangle 17"/>
          <p:cNvSpPr/>
          <p:nvPr/>
        </p:nvSpPr>
        <p:spPr>
          <a:xfrm>
            <a:off x="685800" y="3657600"/>
            <a:ext cx="41148" cy="685800"/>
          </a:xfrm>
          <a:prstGeom prst="rect">
            <a:avLst/>
          </a:prstGeom>
          <a:solidFill>
            <a:srgbClr val="BEC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657600"/>
            <a:ext cx="548640" cy="365760"/>
          </a:xfrm>
          <a:prstGeom prst="rect">
            <a:avLst/>
          </a:prstGeom>
          <a:noFill/>
        </p:spPr>
        <p:txBody>
          <a:bodyPr wrap="square" lIns="0" rIns="0" tIns="0" bIns="0" anchor="t">
            <a:spAutoFit/>
          </a:bodyPr>
          <a:lstStyle/>
          <a:p>
            <a:pPr algn="l"/>
            <a:r>
              <a:rPr sz="1600" b="1" i="0">
                <a:solidFill>
                  <a:srgbClr val="BEC6D2"/>
                </a:solidFill>
                <a:latin typeface="Aptos"/>
              </a:rPr>
              <a:t>(c)</a:t>
            </a:r>
          </a:p>
        </p:txBody>
      </p:sp>
      <p:sp>
        <p:nvSpPr>
          <p:cNvPr id="20" name="TextBox 19"/>
          <p:cNvSpPr txBox="1"/>
          <p:nvPr/>
        </p:nvSpPr>
        <p:spPr>
          <a:xfrm>
            <a:off x="1463040" y="3639312"/>
            <a:ext cx="4572000" cy="640080"/>
          </a:xfrm>
          <a:prstGeom prst="rect">
            <a:avLst/>
          </a:prstGeom>
          <a:noFill/>
        </p:spPr>
        <p:txBody>
          <a:bodyPr wrap="square" lIns="0" rIns="0" tIns="0" bIns="0" anchor="t">
            <a:spAutoFit/>
          </a:bodyPr>
          <a:lstStyle/>
          <a:p>
            <a:pPr algn="l"/>
            <a:r>
              <a:rPr sz="1800" b="1" i="0">
                <a:solidFill>
                  <a:srgbClr val="F6F8FC"/>
                </a:solidFill>
                <a:latin typeface="Aptos"/>
              </a:rPr>
              <a:t>No raise</a:t>
            </a:r>
          </a:p>
        </p:txBody>
      </p:sp>
      <p:sp>
        <p:nvSpPr>
          <p:cNvPr id="21" name="TextBox 20"/>
          <p:cNvSpPr txBox="1"/>
          <p:nvPr/>
        </p:nvSpPr>
        <p:spPr>
          <a:xfrm>
            <a:off x="6126480" y="3657600"/>
            <a:ext cx="5486400" cy="822960"/>
          </a:xfrm>
          <a:prstGeom prst="rect">
            <a:avLst/>
          </a:prstGeom>
          <a:noFill/>
        </p:spPr>
        <p:txBody>
          <a:bodyPr wrap="square" lIns="0" rIns="0" tIns="0" bIns="0" anchor="t">
            <a:spAutoFit/>
          </a:bodyPr>
          <a:lstStyle/>
          <a:p>
            <a:pPr algn="l">
              <a:lnSpc>
                <a:spcPct val="105000"/>
              </a:lnSpc>
            </a:pPr>
            <a:r>
              <a:rPr sz="1400" b="0" i="0">
                <a:solidFill>
                  <a:srgbClr val="BEC6D2"/>
                </a:solidFill>
                <a:latin typeface="Aptos"/>
              </a:rPr>
              <a:t>Until the curve exists.</a:t>
            </a:r>
          </a:p>
        </p:txBody>
      </p:sp>
      <p:sp>
        <p:nvSpPr>
          <p:cNvPr id="22" name="Rectangle 21"/>
          <p:cNvSpPr/>
          <p:nvPr/>
        </p:nvSpPr>
        <p:spPr>
          <a:xfrm>
            <a:off x="685800" y="4754880"/>
            <a:ext cx="1088136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37760"/>
            <a:ext cx="4572000" cy="274320"/>
          </a:xfrm>
          <a:prstGeom prst="rect">
            <a:avLst/>
          </a:prstGeom>
          <a:noFill/>
        </p:spPr>
        <p:txBody>
          <a:bodyPr wrap="square" lIns="0" rIns="0" tIns="0" bIns="0" anchor="t">
            <a:spAutoFit/>
          </a:bodyPr>
          <a:lstStyle/>
          <a:p>
            <a:pPr algn="l"/>
            <a:r>
              <a:rPr sz="1200" b="1" i="0">
                <a:solidFill>
                  <a:srgbClr val="FFB739"/>
                </a:solidFill>
                <a:latin typeface="Aptos"/>
              </a:rPr>
              <a:t>90 DAYS</a:t>
            </a:r>
          </a:p>
        </p:txBody>
      </p:sp>
      <p:sp>
        <p:nvSpPr>
          <p:cNvPr id="24" name="TextBox 23"/>
          <p:cNvSpPr txBox="1"/>
          <p:nvPr/>
        </p:nvSpPr>
        <p:spPr>
          <a:xfrm>
            <a:off x="685800" y="5257800"/>
            <a:ext cx="5212080" cy="822960"/>
          </a:xfrm>
          <a:prstGeom prst="rect">
            <a:avLst/>
          </a:prstGeom>
          <a:noFill/>
        </p:spPr>
        <p:txBody>
          <a:bodyPr wrap="square" lIns="0" rIns="0" tIns="0" bIns="0" anchor="t">
            <a:spAutoFit/>
          </a:bodyPr>
          <a:lstStyle/>
          <a:p>
            <a:pPr algn="l">
              <a:lnSpc>
                <a:spcPct val="105000"/>
              </a:lnSpc>
            </a:pPr>
            <a:r>
              <a:rPr sz="1400" b="0" i="0">
                <a:solidFill>
                  <a:srgbClr val="F6F8FC"/>
                </a:solidFill>
                <a:latin typeface="Aptos"/>
              </a:rPr>
              <a:t>install in one command · funnel rows · the first stream</a:t>
            </a:r>
          </a:p>
        </p:txBody>
      </p:sp>
      <p:sp>
        <p:nvSpPr>
          <p:cNvPr id="25" name="TextBox 24"/>
          <p:cNvSpPr txBox="1"/>
          <p:nvPr/>
        </p:nvSpPr>
        <p:spPr>
          <a:xfrm>
            <a:off x="6263640" y="4937760"/>
            <a:ext cx="4572000" cy="274320"/>
          </a:xfrm>
          <a:prstGeom prst="rect">
            <a:avLst/>
          </a:prstGeom>
          <a:noFill/>
        </p:spPr>
        <p:txBody>
          <a:bodyPr wrap="square" lIns="0" rIns="0" tIns="0" bIns="0" anchor="t">
            <a:spAutoFit/>
          </a:bodyPr>
          <a:lstStyle/>
          <a:p>
            <a:pPr algn="l"/>
            <a:r>
              <a:rPr sz="1200" b="1" i="0">
                <a:solidFill>
                  <a:srgbClr val="FFB739"/>
                </a:solidFill>
                <a:latin typeface="Aptos"/>
              </a:rPr>
              <a:t>12 MONTHS</a:t>
            </a:r>
          </a:p>
        </p:txBody>
      </p:sp>
      <p:sp>
        <p:nvSpPr>
          <p:cNvPr id="26" name="TextBox 25"/>
          <p:cNvSpPr txBox="1"/>
          <p:nvPr/>
        </p:nvSpPr>
        <p:spPr>
          <a:xfrm>
            <a:off x="6263640" y="5257800"/>
            <a:ext cx="5212080" cy="822960"/>
          </a:xfrm>
          <a:prstGeom prst="rect">
            <a:avLst/>
          </a:prstGeom>
          <a:noFill/>
        </p:spPr>
        <p:txBody>
          <a:bodyPr wrap="square" lIns="0" rIns="0" tIns="0" bIns="0" anchor="t">
            <a:spAutoFit/>
          </a:bodyPr>
          <a:lstStyle/>
          <a:p>
            <a:pPr algn="l">
              <a:lnSpc>
                <a:spcPct val="105000"/>
              </a:lnSpc>
            </a:pPr>
            <a:r>
              <a:rPr sz="1400" b="0" i="0">
                <a:solidFill>
                  <a:srgbClr val="F6F8FC"/>
                </a:solidFill>
                <a:latin typeface="Aptos"/>
              </a:rPr>
              <a:t>hosted execution GA · local runner · team seats · the place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ark.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BACKUP · Q&amp;A</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B1</a:t>
            </a:r>
          </a:p>
        </p:txBody>
      </p:sp>
      <p:sp>
        <p:nvSpPr>
          <p:cNvPr id="9" name="TextBox 8"/>
          <p:cNvSpPr txBox="1"/>
          <p:nvPr/>
        </p:nvSpPr>
        <p:spPr>
          <a:xfrm>
            <a:off x="621792" y="987552"/>
            <a:ext cx="7680960" cy="1280160"/>
          </a:xfrm>
          <a:prstGeom prst="rect">
            <a:avLst/>
          </a:prstGeom>
          <a:noFill/>
        </p:spPr>
        <p:txBody>
          <a:bodyPr wrap="square" lIns="0" rIns="0" tIns="0" bIns="0" anchor="t">
            <a:spAutoFit/>
          </a:bodyPr>
          <a:lstStyle/>
          <a:p>
            <a:pPr algn="l">
              <a:lnSpc>
                <a:spcPct val="95000"/>
              </a:lnSpc>
            </a:pPr>
            <a:r>
              <a:rPr sz="3000" b="0" i="0">
                <a:solidFill>
                  <a:srgbClr val="F6F8FC"/>
                </a:solidFill>
                <a:latin typeface="Aptos"/>
              </a:rPr>
              <a:t>Their cloud moves the hands. The memory has to live somewhere.</a:t>
            </a:r>
          </a:p>
        </p:txBody>
      </p:sp>
      <p:sp>
        <p:nvSpPr>
          <p:cNvPr id="10" name="TextBox 9"/>
          <p:cNvSpPr txBox="1"/>
          <p:nvPr/>
        </p:nvSpPr>
        <p:spPr>
          <a:xfrm>
            <a:off x="658368" y="2514600"/>
            <a:ext cx="7498079" cy="2286000"/>
          </a:xfrm>
          <a:prstGeom prst="rect">
            <a:avLst/>
          </a:prstGeom>
          <a:noFill/>
        </p:spPr>
        <p:txBody>
          <a:bodyPr wrap="square" lIns="0" rIns="0" tIns="0" bIns="0" anchor="t">
            <a:spAutoFit/>
          </a:bodyPr>
          <a:lstStyle/>
          <a:p>
            <a:pPr algn="l">
              <a:lnSpc>
                <a:spcPct val="110000"/>
              </a:lnSpc>
            </a:pPr>
            <a:r>
              <a:rPr sz="1900" b="0" i="0">
                <a:solidFill>
                  <a:srgbClr val="BEC6D2"/>
                </a:solidFill>
                <a:latin typeface="Aptos"/>
              </a:rPr>
              <a:t>Codex and Claude now run tasks remotely. Each run is still a session inside one vendor's walled garden. Whatever decides what to do next, remembers last week and collects the result has to live above the vendors. That layer is brnrd, on your machine, on the subscription you already pay for.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ark.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8229600" cy="228600"/>
          </a:xfrm>
          <a:prstGeom prst="rect">
            <a:avLst/>
          </a:prstGeom>
          <a:noFill/>
        </p:spPr>
        <p:txBody>
          <a:bodyPr wrap="square" lIns="0" rIns="0" tIns="0" bIns="0" anchor="t">
            <a:spAutoFit/>
          </a:bodyPr>
          <a:lstStyle/>
          <a:p>
            <a:pPr algn="l"/>
            <a:r>
              <a:rPr sz="1150" b="1" i="0">
                <a:solidFill>
                  <a:srgbClr val="C6E5FF"/>
                </a:solidFill>
                <a:latin typeface="Aptos"/>
              </a:rPr>
              <a:t>BACKUP · Q&amp;A</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6382512"/>
            <a:ext cx="2468880" cy="146304"/>
          </a:xfrm>
          <a:prstGeom prst="rect">
            <a:avLst/>
          </a:prstGeom>
          <a:noFill/>
        </p:spPr>
        <p:txBody>
          <a:bodyPr wrap="square" lIns="0" rIns="0" tIns="0" bIns="0" anchor="t">
            <a:spAutoFit/>
          </a:bodyPr>
          <a:lstStyle/>
          <a:p>
            <a:pPr algn="r"/>
            <a:r>
              <a:rPr sz="850" b="0" i="0">
                <a:solidFill>
                  <a:srgbClr val="8892A2"/>
                </a:solidFill>
                <a:latin typeface="Aptos"/>
              </a:rPr>
              <a:t>hugimuni sas · investor deck v1</a:t>
            </a:r>
          </a:p>
        </p:txBody>
      </p:sp>
      <p:sp>
        <p:nvSpPr>
          <p:cNvPr id="8" name="TextBox 7"/>
          <p:cNvSpPr txBox="1"/>
          <p:nvPr/>
        </p:nvSpPr>
        <p:spPr>
          <a:xfrm>
            <a:off x="11430000" y="6382512"/>
            <a:ext cx="365760" cy="146304"/>
          </a:xfrm>
          <a:prstGeom prst="rect">
            <a:avLst/>
          </a:prstGeom>
          <a:noFill/>
        </p:spPr>
        <p:txBody>
          <a:bodyPr wrap="square" lIns="0" rIns="0" tIns="0" bIns="0" anchor="t">
            <a:spAutoFit/>
          </a:bodyPr>
          <a:lstStyle/>
          <a:p>
            <a:pPr algn="r"/>
            <a:r>
              <a:rPr sz="850" b="0" i="0">
                <a:solidFill>
                  <a:srgbClr val="8892A2"/>
                </a:solidFill>
                <a:latin typeface="Aptos"/>
              </a:rPr>
              <a:t>B2</a:t>
            </a:r>
          </a:p>
        </p:txBody>
      </p:sp>
      <p:sp>
        <p:nvSpPr>
          <p:cNvPr id="9" name="TextBox 8"/>
          <p:cNvSpPr txBox="1"/>
          <p:nvPr/>
        </p:nvSpPr>
        <p:spPr>
          <a:xfrm>
            <a:off x="621792" y="987552"/>
            <a:ext cx="7680960" cy="1280160"/>
          </a:xfrm>
          <a:prstGeom prst="rect">
            <a:avLst/>
          </a:prstGeom>
          <a:noFill/>
        </p:spPr>
        <p:txBody>
          <a:bodyPr wrap="square" lIns="0" rIns="0" tIns="0" bIns="0" anchor="t">
            <a:spAutoFit/>
          </a:bodyPr>
          <a:lstStyle/>
          <a:p>
            <a:pPr algn="l">
              <a:lnSpc>
                <a:spcPct val="95000"/>
              </a:lnSpc>
            </a:pPr>
            <a:r>
              <a:rPr sz="3000" b="0" i="0">
                <a:solidFill>
                  <a:srgbClr val="F6F8FC"/>
                </a:solidFill>
                <a:latin typeface="Aptos"/>
              </a:rPr>
              <a:t>Same category, a different axis — that, but running your subscriptions.</a:t>
            </a:r>
          </a:p>
        </p:txBody>
      </p:sp>
      <p:sp>
        <p:nvSpPr>
          <p:cNvPr id="10" name="TextBox 9"/>
          <p:cNvSpPr txBox="1"/>
          <p:nvPr/>
        </p:nvSpPr>
        <p:spPr>
          <a:xfrm>
            <a:off x="658368" y="2514600"/>
            <a:ext cx="7498079" cy="2286000"/>
          </a:xfrm>
          <a:prstGeom prst="rect">
            <a:avLst/>
          </a:prstGeom>
          <a:noFill/>
        </p:spPr>
        <p:txBody>
          <a:bodyPr wrap="square" lIns="0" rIns="0" tIns="0" bIns="0" anchor="t">
            <a:spAutoFit/>
          </a:bodyPr>
          <a:lstStyle/>
          <a:p>
            <a:pPr algn="l">
              <a:lnSpc>
                <a:spcPct val="110000"/>
              </a:lnSpc>
            </a:pPr>
            <a:r>
              <a:rPr sz="1900" b="0" i="0">
                <a:solidFill>
                  <a:srgbClr val="BEC6D2"/>
                </a:solidFill>
                <a:latin typeface="Aptos"/>
              </a:rPr>
              <a:t>Others sell a hosted agent on their credits. brnrd runs the Claude and Codex subscriptions you already pay for, on your machine, under your login. No credentials are handed to 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brnrd — investor deck v1</dc:title>
  <dc:subject/>
  <dc:creator>HugiMuni SAS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